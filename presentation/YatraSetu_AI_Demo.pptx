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pitch: YatraSetu is a multilingual safety bridge for pilgrims — it answers questions</a:t>
            </a:r>
          </a:p>
          <a:p>
            <a:r>
              <a:t>in the traveller's language, forecasts crowds against carrying capacity, scores the risk of their actual road,</a:t>
            </a:r>
          </a:p>
          <a:p>
            <a:r>
              <a:t>checks health readiness, and lets district officials push one approved advisory to every affected trip.</a:t>
            </a:r>
          </a:p>
          <a:p/>
          <a:p>
            <a:r>
              <a:t>Today is a live product demo, not a slide tour. The whole stack runs locally: FastAPI, scikit-learn,</a:t>
            </a:r>
          </a:p>
          <a:p>
            <a:r>
              <a:t>SQLite, a LangChain chain on OpenRouter, and a plain HTML/PWA front end. It also runs with no API key.</a:t>
            </a:r>
          </a:p>
          <a:p/>
          <a:p>
            <a:r>
              <a:t>Say: "Everything you will see is running on this laptop. Where the AI needs an external model, we use</a:t>
            </a:r>
          </a:p>
          <a:p>
            <a:r>
              <a:t>OpenRouter through LangChain — and every generated answer is checked against retrieved official text."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five stops, each one user problem. If time is short, skip the health and SOS screens and</a:t>
            </a:r>
          </a:p>
          <a:p>
            <a:r>
              <a:t>spend the extra minutes on the advisory broadcast — that is the part officials remember.</a:t>
            </a:r>
          </a:p>
          <a:p/>
          <a:p>
            <a:r>
              <a:t>The three "why it lands" points are your theme for the whole demo: grounded, live, human-approved.</a:t>
            </a:r>
          </a:p>
          <a:p>
            <a:r>
              <a:t>Repeat them at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Pre-flight, 60 seconds before you start:</a:t>
            </a:r>
          </a:p>
          <a:p>
            <a:r>
              <a:t>1) ./run.sh (it creates .venv, installs, seeds SQLite, starts uvicorn). 2) Open the two URLs in separate tabs.</a:t>
            </a:r>
          </a:p>
          <a:p>
            <a:r>
              <a:t>3) Run pytest -q — 23 passed. 4) Open /api/ai/status and confirm the AI badge. 5) Keep this deck open on the</a:t>
            </a:r>
          </a:p>
          <a:p>
            <a:r>
              <a:t>screenshots slide in case the projector or network misbehaves.</a:t>
            </a:r>
          </a:p>
          <a:p/>
          <a:p>
            <a:r>
              <a:t>If .env has OPENROUTER_API_KEY, the traveller page shows "llm-rag · openrouter / &lt;model&gt; · LangChain".</a:t>
            </a:r>
          </a:p>
          <a:p>
            <a:r>
              <a:t>If not, it shows "extractive · offline mode". Both are honest and both work; do not apologise for offline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Sunita to make the demo about a person, not a stack. The three "today" failures map one-to-one to the</a:t>
            </a:r>
          </a:p>
          <a:p>
            <a:r>
              <a:t>five screens: scattered information (assistant), unpredictable crowds (forecast), generic warnings (route +</a:t>
            </a:r>
          </a:p>
          <a:p>
            <a:r>
              <a:t>alerts), unprepared at altitude (health), and officials who cannot reach the right people (dashboard).</a:t>
            </a:r>
          </a:p>
          <a:p/>
          <a:p>
            <a:r>
              <a:t>Keep this to 40 seconds. Then say: "Let me show you what Sunita sees instead."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the English crowd question. Point at the date-stamped source chip under the answer, then at the</a:t>
            </a:r>
          </a:p>
          <a:p>
            <a:r>
              <a:t>"Last response details" panel: intent = crowd, confidence, shrine detected. Now ask the Hindi question;</a:t>
            </a:r>
          </a:p>
          <a:p>
            <a:r>
              <a:t>the answer stays in Hindi and the UI keeps the same source discipline.</a:t>
            </a:r>
          </a:p>
          <a:p/>
          <a:p>
            <a:r>
              <a:t>If the OpenRouter key is configured, answer mode reads llm-rag; the generated text still passes the numeric</a:t>
            </a:r>
          </a:p>
          <a:p>
            <a:r>
              <a:t>guardrail. If not, mode reads extractive. Either way the source is shown. Do not claim the LLM knows the</a:t>
            </a:r>
          </a:p>
          <a:p>
            <a:r>
              <a:t>answer — it is only allowed to phrase retrieved passages.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the chest-pain sentence. The answer is a fixed safety template: stop climbing, keep the person warm and</a:t>
            </a:r>
          </a:p>
          <a:p>
            <a:r>
              <a:t>seated, call 112, ambulance 108, use SOS. It is marked as an emergency in the details panel with confidence 1.0.</a:t>
            </a:r>
          </a:p>
          <a:p/>
          <a:p>
            <a:r>
              <a:t>Then ask something off-topic — "What is the GDP of Brazil in 1990?" — and show that it refuses and points to</a:t>
            </a:r>
          </a:p>
          <a:p>
            <a:r>
              <a:t>112 / the official helpline. This is the trust moment: the system is designed to say "I don't know".</a:t>
            </a:r>
          </a:p>
          <a:p/>
          <a:p>
            <a:r>
              <a:t>Mention that the emergency list is bilingual and unit-tested (100% recall on 10 phrasings).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Kedarnath and walk the seven day cards. The bar chart overlays carrying capacity. If today is not High,</a:t>
            </a:r>
          </a:p>
          <a:p>
            <a:r>
              <a:t>change the start date to a May/June weekend until a High or Over-capacity day appears, then point at the</a:t>
            </a:r>
          </a:p>
          <a:p>
            <a:r>
              <a:t>lighter-date and alternative-shrine suggestion.</a:t>
            </a:r>
          </a:p>
          <a:p/>
          <a:p>
            <a:r>
              <a:t>Explain the model in one sentence: gradient-boosted trees on calendar, season position and weather features,</a:t>
            </a:r>
          </a:p>
          <a:p>
            <a:r>
              <a:t>trained on a synthetic daily history calibrated to published season totals. Evaluation is a held-out season,</a:t>
            </a:r>
          </a:p>
          <a:p>
            <a:r>
              <a:t>not a random split.</a:t>
            </a:r>
          </a:p>
          <a:p/>
          <a:p>
            <a:r>
              <a:t>Be honest: daily shrine-wise counts need a data MoU. The pipeline is built so real data drops in without</a:t>
            </a:r>
          </a:p>
          <a:p>
            <a:r>
              <a:t>code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Kedarnath and click Check route. The seeded demo has a Restricted stretch at Joshimath (Chamoli) and an</a:t>
            </a:r>
          </a:p>
          <a:p>
            <a:r>
              <a:t>Orange IMD alert in Rudraprayag, so the route shows a meaningful worst segment. Read the "why" column aloud:</a:t>
            </a:r>
          </a:p>
          <a:p>
            <a:r>
              <a:t>IMD alert points, rain points, terrain susceptibility, road status.</a:t>
            </a:r>
          </a:p>
          <a:p/>
          <a:p>
            <a:r>
              <a:t>If the worst segment is Orange or Red, the panel suggests a safe halt with stay and medical facilities on the</a:t>
            </a:r>
          </a:p>
          <a:p>
            <a:r>
              <a:t>traveller's side of the blockage. That is FR-17, and it is the detail officials and families remember.</a:t>
            </a:r>
          </a:p>
          <a:p/>
          <a:p>
            <a:r>
              <a:t>Hover a segment on the SVG map to show the same factors in the tooltip.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 68, tick high blood pressure, keep fitness at "can walk 5 km" and choose Kedarnath. The result is</a:t>
            </a:r>
          </a:p>
          <a:p>
            <a:r>
              <a:t>"Consult doctor first": reasons, actions (fitness certificate, acclimatisation, medicines) and the screening</a:t>
            </a:r>
          </a:p>
          <a:p>
            <a:r>
              <a:t>point at Sonprayag with medical posts on the route.</a:t>
            </a:r>
          </a:p>
          <a:p/>
          <a:p>
            <a:r>
              <a:t>Then tick "chest pain or pressure" and re-run: the category jumps to "Do not trek now" with 112/108 guidance.</a:t>
            </a:r>
          </a:p>
          <a:p>
            <a:r>
              <a:t>The disclaimer is always visible. This is deliberately rules, not ML — a probabilistic answer is the wrong</a:t>
            </a:r>
          </a:p>
          <a:p>
            <a:r>
              <a:t>tool for a red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Tick consent, subscribe 9876543210 for Kedarnath, and show the returned segment list. The number is masked in</a:t>
            </a:r>
          </a:p>
          <a:p>
            <a:r>
              <a:t>the database and stored as a hash. A demo convention: numbers ending in 0 fail WhatsApp and fall back to SMS,</a:t>
            </a:r>
          </a:p>
          <a:p>
            <a:r>
              <a:t>so you can show both channels offline.</a:t>
            </a:r>
          </a:p>
          <a:p/>
          <a:p>
            <a:r>
              <a:t>Then send an SOS at the pre-filled location. It returns the nearest medical facility (Kedarnath, about a</a:t>
            </a:r>
          </a:p>
          <a:p>
            <a:r>
              <a:t>kilometre away), a 112 dial link, and a WhatsApp share link with the map pin. Nothing is sent to a real</a:t>
            </a:r>
          </a:p>
          <a:p>
            <a:r>
              <a:t>gateway in the prototype; the outbox simulates delivery so the whole flow is demonstrable on a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 in as editor (the form is pre-filled). The overview shows how many queries, grounded rate, subscriptions,</a:t>
            </a:r>
          </a:p>
          <a:p>
            <a:r>
              <a:t>pending advisories, the outbox, queries by intent and language, and live route risk. This is operational</a:t>
            </a:r>
          </a:p>
          <a:p>
            <a:r>
              <a:t>intelligence, not a vanity dashboard: it tells the district what people are worried about today.</a:t>
            </a:r>
          </a:p>
          <a:p/>
          <a:p>
            <a:r>
              <a:t>Switch to the Audit tab and point out that logins, advisory creation, approvals, road changes and weather</a:t>
            </a:r>
          </a:p>
          <a:p>
            <a:r>
              <a:t>updates are all recorded. That is what makes a four-eyes workflow auditable.</a:t>
            </a:r>
          </a:p>
          <a:p/>
          <a:p>
            <a:r>
              <a:t>Keep this stop short — the next slide is the workflow that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strongest live moment. As editor: Advisories tab, the form is pre-filled with the Sonprayag</a:t>
            </a:r>
          </a:p>
          <a:p>
            <a:r>
              <a:t>landslide. Submit for approval. Point out the pending badge. Sign out, sign in as approver, click Publish.</a:t>
            </a:r>
          </a:p>
          <a:p>
            <a:r>
              <a:t>The result: 4 affected trips, 3 delivered on WhatsApp, 1 SMS fallback (the seeded number ending in 0).</a:t>
            </a:r>
          </a:p>
          <a:p/>
          <a:p>
            <a:r>
              <a:t>Now go back to the traveller app and ask "Is there debris near Sonprayag?" The new advisory is the top source.</a:t>
            </a:r>
          </a:p>
          <a:p>
            <a:r>
              <a:t>That closes the loop between the control room and the pilgrim.</a:t>
            </a:r>
          </a:p>
          <a:p/>
          <a:p>
            <a:r>
              <a:t>Emphasise the 403 if the editor tries to approve their own advisory: the four-eyes rule is enforced in code,</a:t>
            </a:r>
          </a:p>
          <a:p>
            <a:r>
              <a:t>not in a policy document. Audit log records who did what.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slide is where technical judges calm down. Explain the AI path in four steps and stress that</a:t>
            </a:r>
          </a:p>
          <a:p>
            <a:r>
              <a:t>retrieval is ours, not the model's: bilingual TF-IDF (word + character n-grams) over approved documents, with</a:t>
            </a:r>
          </a:p>
          <a:p>
            <a:r>
              <a:t>shrine-aware re-ranking and live forecast/route enrichment.</a:t>
            </a:r>
          </a:p>
          <a:p/>
          <a:p>
            <a:r>
              <a:t>Then the LangChain chain: ChatPromptTemplate → ChatOpenAI pointed at OpenRouter → StrOutputParser, with</a:t>
            </a:r>
          </a:p>
          <a:p>
            <a:r>
              <a:t>attribution headers, model fallbacks, timeout, retries and an in-process cache. The prompt is not allowed to</a:t>
            </a:r>
          </a:p>
          <a:p>
            <a:r>
              <a:t>answer outside the numbered passages.</a:t>
            </a:r>
          </a:p>
          <a:p/>
          <a:p>
            <a:r>
              <a:t>The guardrail is the important part: every number in the generated answer must appear in the retrieved</a:t>
            </a:r>
          </a:p>
          <a:p>
            <a:r>
              <a:t>passages, otherwise we throw the generation away and show the extractive answer. Emergencies never reach the</a:t>
            </a:r>
          </a:p>
          <a:p>
            <a:r>
              <a:t>model at all. Set OPENROUTER_API_KEY to switch it on; no key means the same product without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only three numbers aloud: 23/23 tests, 100% emergency recall, 13.3% forecast error. The rest are on the</a:t>
            </a:r>
          </a:p>
          <a:p>
            <a:r>
              <a:t>slide for the report and for questions.</a:t>
            </a:r>
          </a:p>
          <a:p/>
          <a:p>
            <a:r>
              <a:t>Be precise about the forecast: MAPE is on normal days in a held-out season, using synthetic daily history</a:t>
            </a:r>
          </a:p>
          <a:p>
            <a:r>
              <a:t>calibrated to published totals. Never imply it is trained on official daily shrine counts — that is exactly</a:t>
            </a:r>
          </a:p>
          <a:p>
            <a:r>
              <a:t>the data-sharing MoU the pilot needs.</a:t>
            </a:r>
          </a:p>
          <a:p/>
          <a:p>
            <a:r>
              <a:t>Mention the LangChain guardrail tests: one confirms a grounded generated answer is accepted; another confirms</a:t>
            </a:r>
          </a:p>
          <a:p>
            <a:r>
              <a:t>an invented number is rejected and the extractive answer is used. The OpenRouter HTTP path was verified</a:t>
            </a:r>
          </a:p>
          <a:p>
            <a:r>
              <a:t>against a local OpenAI-compatible stub, so the wiring is not theoretical.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slide before the demo starts, not during it. The most likely failure is an OpenRouter key</a:t>
            </a:r>
          </a:p>
          <a:p>
            <a:r>
              <a:t>that is missing, expired or out of credit. The application is designed to fall back to extractive mode on any</a:t>
            </a:r>
          </a:p>
          <a:p>
            <a:r>
              <a:t>exception, so the demo still works — but check the badge so you are not surprised.</a:t>
            </a:r>
          </a:p>
          <a:p/>
          <a:p>
            <a:r>
              <a:t>For a clean demo database: rm yatrasetu.db &amp;&amp; python scripts/seed_demo.py. That recreates the weather alerts,</a:t>
            </a:r>
          </a:p>
          <a:p>
            <a:r>
              <a:t>five subscriptions and the Restricted road at Joshimath. The advisory workflow still needs you to draft and</a:t>
            </a:r>
          </a:p>
          <a:p>
            <a:r>
              <a:t>approve live.</a:t>
            </a:r>
          </a:p>
          <a:p/>
          <a:p>
            <a:r>
              <a:t>Keep the screenshots folder open in Finder/Explorer. If the projector dies, switch to this deck rather than</a:t>
            </a:r>
          </a:p>
          <a:p>
            <a:r>
              <a:t>troubleshooting in front of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these in one breath each, then stop. Over-explaining data limitations loses the room.</a:t>
            </a:r>
          </a:p>
          <a:p/>
          <a:p>
            <a:r>
              <a:t>The honest position: the product is real, the AI pipeline is real, the daily footfall history is synthetic</a:t>
            </a:r>
          </a:p>
          <a:p>
            <a:r>
              <a:t>because the state does not publish machine-readable shrine-wise daily counts. We calibrated it to published</a:t>
            </a:r>
          </a:p>
          <a:p>
            <a:r>
              <a:t>season totals and we evaluate on a held-out season. The first pilot task is a data MoU.</a:t>
            </a:r>
          </a:p>
          <a:p/>
          <a:p>
            <a:r>
              <a:t>On privacy, be specific: consent is required before storing a trip; the phone is hashed (SHA-256 with a salt</a:t>
            </a:r>
          </a:p>
          <a:p>
            <a:r>
              <a:t>in the prototype, a vault secret in production); display numbers are masked; phone numbers and e-mails are</a:t>
            </a:r>
          </a:p>
          <a:p>
            <a:r>
              <a:t>redacted before any text reaches OpenRouter.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ask, not on the tech: one district, one data MoU, one season. Rudraprayag and Chamoli cover</a:t>
            </a:r>
          </a:p>
          <a:p>
            <a:r>
              <a:t>Kedarnath, Badrinath and Hemkund — the highest-risk routes and the ones where the prototype already has data.</a:t>
            </a:r>
          </a:p>
          <a:p/>
          <a:p>
            <a:r>
              <a:t>Then invite questions. If someone asks "what do you need most?", the answer is the data-sharing agreement and</a:t>
            </a:r>
          </a:p>
          <a:p>
            <a:r>
              <a:t>a WhatsApp Business / Bhashini sandbox, not money for more features.</a:t>
            </a:r>
          </a:p>
          <a:p/>
          <a:p>
            <a:r>
              <a:t>Pause on this slide. Do not fill the silence.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-1097280" y="4663440"/>
            <a:ext cx="6583680" cy="3108960"/>
          </a:xfrm>
          <a:prstGeom prst="triangle">
            <a:avLst/>
          </a:prstGeom>
          <a:solidFill>
            <a:srgbClr val="2A6377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2834640" y="4069080"/>
            <a:ext cx="7315200" cy="3840480"/>
          </a:xfrm>
          <a:prstGeom prst="triangle">
            <a:avLst/>
          </a:prstGeom>
          <a:solidFill>
            <a:srgbClr val="2A637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8595360" y="4572000"/>
            <a:ext cx="5486400" cy="2926080"/>
          </a:xfrm>
          <a:prstGeom prst="triangle">
            <a:avLst/>
          </a:prstGeom>
          <a:solidFill>
            <a:srgbClr val="2A6377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32520" y="320040"/>
            <a:ext cx="1051560" cy="1051560"/>
          </a:xfrm>
          <a:prstGeom prst="ellipse">
            <a:avLst/>
          </a:prstGeom>
          <a:solidFill>
            <a:srgbClr val="D9731E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89720" y="658368"/>
            <a:ext cx="2670048" cy="5577840"/>
          </a:xfrm>
          <a:prstGeom prst="roundRect">
            <a:avLst>
              <a:gd name="adj" fmla="val 11000"/>
            </a:avLst>
          </a:prstGeom>
          <a:solidFill>
            <a:srgbClr val="16394A"/>
          </a:solidFill>
          <a:ln w="15240">
            <a:solidFill>
              <a:srgbClr val="2F5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mobile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448" y="768096"/>
            <a:ext cx="2450592" cy="5303520"/>
          </a:xfrm>
          <a:prstGeom prst="rect">
            <a:avLst/>
          </a:prstGeom>
          <a:ln w="9525">
            <a:solidFill>
              <a:srgbClr val="2A637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7240" y="74980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D9731E"/>
                </a:solidFill>
                <a:latin typeface="Calibri"/>
              </a:rPr>
              <a:t>LIVE DEMO  ·  MINOR PROJECT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78992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mbria"/>
              </a:rPr>
              <a:t>YatraSetu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12848"/>
            <a:ext cx="7680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C9DDE3"/>
                </a:solidFill>
                <a:latin typeface="Cambria"/>
              </a:rPr>
              <a:t>A safe-travel bridge for every pilgrim in Uttarakhand.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255264"/>
            <a:ext cx="1371600" cy="54864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93008"/>
            <a:ext cx="75895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C9DDE3"/>
                </a:solidFill>
                <a:latin typeface="Calibri"/>
              </a:rPr>
              <a:t>One multilingual assistant. Five safety services. Grounded in official data — from a 7-day crowd forecast to a WhatsApp alert on the road that is actually closed.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79552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Ayush Singh  ·  B.Tech CSE (AI/ML)  ·  Roorkee Institute of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58384"/>
            <a:ext cx="7955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9DDE3"/>
                </a:solidFill>
                <a:latin typeface="Calibri"/>
              </a:rPr>
              <a:t>github.com/AyushSinghRana15/Yatra-Setu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97880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2A6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911596"/>
            <a:ext cx="29718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Calibri"/>
              </a:rPr>
              <a:t>OPENROUTER  ·  LANGCHAIN  · 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D9731E"/>
                </a:solidFill>
                <a:latin typeface="Calibri"/>
              </a:rPr>
              <a:t>THE RUN OF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09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4E5F"/>
                </a:solidFill>
                <a:latin typeface="Cambria"/>
              </a:rPr>
              <a:t>Five stops, about six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822960" cy="41148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254556"/>
            <a:ext cx="102870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109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780"/>
                </a:solidFill>
                <a:latin typeface="Calibri"/>
              </a:rPr>
              <a:t>Each stop is one user problem and one working screen. The screenshots in this deck are the backup.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2029968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29968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4E5F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87752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780"/>
                </a:solidFill>
                <a:latin typeface="Calibri"/>
              </a:rPr>
              <a:t>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52928"/>
            <a:ext cx="16642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1" i="0">
                <a:solidFill>
                  <a:srgbClr val="1F4E5F"/>
                </a:solidFill>
                <a:latin typeface="Cambria"/>
              </a:rPr>
              <a:t>Ask anything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93008"/>
            <a:ext cx="16824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6B7780"/>
                </a:solidFill>
                <a:latin typeface="Calibri"/>
              </a:rPr>
              <a:t>English or Hindi, grounded answer with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1874519"/>
            <a:ext cx="2029968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2029968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A6377"/>
                </a:solidFill>
                <a:latin typeface="Cambr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587752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780"/>
                </a:solidFill>
                <a:latin typeface="Calibri"/>
              </a:rPr>
              <a:t>1:15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852928"/>
            <a:ext cx="16642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1" i="0">
                <a:solidFill>
                  <a:srgbClr val="1F4E5F"/>
                </a:solidFill>
                <a:latin typeface="Cambria"/>
              </a:rPr>
              <a:t>Crowd 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3493008"/>
            <a:ext cx="16824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6B7780"/>
                </a:solidFill>
                <a:latin typeface="Calibri"/>
              </a:rPr>
              <a:t>7 days vs carrying capacity, lighter dates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4" y="1874519"/>
            <a:ext cx="2029968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6944" y="2029968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D9731E"/>
                </a:solidFill>
                <a:latin typeface="Cambr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587752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780"/>
                </a:solidFill>
                <a:latin typeface="Calibri"/>
              </a:rPr>
              <a:t>2:00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852928"/>
            <a:ext cx="16642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1" i="0">
                <a:solidFill>
                  <a:srgbClr val="1F4E5F"/>
                </a:solidFill>
                <a:latin typeface="Cambria"/>
              </a:rPr>
              <a:t>Route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3493008"/>
            <a:ext cx="16824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6B7780"/>
                </a:solidFill>
                <a:latin typeface="Calibri"/>
              </a:rPr>
              <a:t>Your road, scored 0–100, with a safe halt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51776" y="1874519"/>
            <a:ext cx="2029968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2029968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B55D17"/>
                </a:solidFill>
                <a:latin typeface="Cambr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6" y="2587752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780"/>
                </a:solidFill>
                <a:latin typeface="Calibri"/>
              </a:rPr>
              <a:t>2:45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2852928"/>
            <a:ext cx="16642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1" i="0">
                <a:solidFill>
                  <a:srgbClr val="1F4E5F"/>
                </a:solidFill>
                <a:latin typeface="Cambria"/>
              </a:rPr>
              <a:t>Alerts &amp; SOS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3493008"/>
            <a:ext cx="16824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6B7780"/>
                </a:solidFill>
                <a:latin typeface="Calibri"/>
              </a:rPr>
              <a:t>Consent-based trip alerts, SMS fallback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19488" y="1874519"/>
            <a:ext cx="2029968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8" y="2029968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394A"/>
                </a:solidFill>
                <a:latin typeface="Cambri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2587752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780"/>
                </a:solidFill>
                <a:latin typeface="Calibri"/>
              </a:rPr>
              <a:t>3:30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2852928"/>
            <a:ext cx="16642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1" i="0">
                <a:solidFill>
                  <a:srgbClr val="1F4E5F"/>
                </a:solidFill>
                <a:latin typeface="Cambria"/>
              </a:rPr>
              <a:t>Control room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368" y="3493008"/>
            <a:ext cx="16824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6B7780"/>
                </a:solidFill>
                <a:latin typeface="Calibri"/>
              </a:rPr>
              <a:t>Draft → approve → broadcast, with an audit trail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77316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WHY IT LANDS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074920"/>
            <a:ext cx="3529584" cy="1097280"/>
          </a:xfrm>
          <a:prstGeom prst="roundRect">
            <a:avLst>
              <a:gd name="adj" fmla="val 5500"/>
            </a:avLst>
          </a:prstGeom>
          <a:solidFill>
            <a:srgbClr val="E6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93792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4E5F"/>
                </a:solidFill>
                <a:latin typeface="Calibri"/>
              </a:rPr>
              <a:t>Grounded, not generated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477256"/>
            <a:ext cx="318211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6B7780"/>
                </a:solidFill>
                <a:latin typeface="Calibri"/>
              </a:rPr>
              <a:t>Every answer cites an approved source or live data — or it says it cannot answer.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79392" y="5074920"/>
            <a:ext cx="3529584" cy="1097280"/>
          </a:xfrm>
          <a:prstGeom prst="roundRect">
            <a:avLst>
              <a:gd name="adj" fmla="val 5500"/>
            </a:avLst>
          </a:prstGeom>
          <a:solidFill>
            <a:srgbClr val="E6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62272" y="5193792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4E5F"/>
                </a:solidFill>
                <a:latin typeface="Calibri"/>
              </a:rPr>
              <a:t>Live, not generic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2272" y="5477256"/>
            <a:ext cx="318211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6B7780"/>
                </a:solidFill>
                <a:latin typeface="Calibri"/>
              </a:rPr>
              <a:t>Crowd and route answers pull today's forecast, IMD alert and road status.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0144" y="5074920"/>
            <a:ext cx="3529584" cy="1097280"/>
          </a:xfrm>
          <a:prstGeom prst="roundRect">
            <a:avLst>
              <a:gd name="adj" fmla="val 5500"/>
            </a:avLst>
          </a:prstGeom>
          <a:solidFill>
            <a:srgbClr val="E6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93023" y="5193792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4E5F"/>
                </a:solidFill>
                <a:latin typeface="Calibri"/>
              </a:rPr>
              <a:t>Human in the loop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3" y="5477256"/>
            <a:ext cx="318211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6B7780"/>
                </a:solidFill>
                <a:latin typeface="Calibri"/>
              </a:rPr>
              <a:t>An official approves every advisory; emergencies never wait for a model.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9224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0"/>
                </a:solidFill>
                <a:latin typeface="Calibri"/>
              </a:rPr>
              <a:t>YatraSetu AI · Live demo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92240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0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D9731E"/>
                </a:solidFill>
                <a:latin typeface="Calibri"/>
              </a:rPr>
              <a:t>PRE-FLIGHT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09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4E5F"/>
                </a:solidFill>
                <a:latin typeface="Cambria"/>
              </a:rPr>
              <a:t>Before you present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822960" cy="41148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254556"/>
            <a:ext cx="102870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109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780"/>
                </a:solidFill>
                <a:latin typeface="Calibri"/>
              </a:rPr>
              <a:t>One command, two URLs. The app seeds its own demo data on first 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6629400" cy="2880360"/>
          </a:xfrm>
          <a:prstGeom prst="roundRect">
            <a:avLst>
              <a:gd name="adj" fmla="val 5500"/>
            </a:avLst>
          </a:prstGeom>
          <a:solidFill>
            <a:srgbClr val="16394A"/>
          </a:solidFill>
          <a:ln w="12700">
            <a:solidFill>
              <a:srgbClr val="16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6629400" cy="329184"/>
          </a:xfrm>
          <a:prstGeom prst="rect">
            <a:avLst/>
          </a:prstGeom>
          <a:solidFill>
            <a:srgbClr val="11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874519"/>
            <a:ext cx="91440" cy="91440"/>
          </a:xfrm>
          <a:prstGeom prst="ellipse">
            <a:avLst/>
          </a:prstGeom>
          <a:solidFill>
            <a:srgbClr val="E06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874519"/>
            <a:ext cx="91440" cy="9144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1874519"/>
            <a:ext cx="91440" cy="91440"/>
          </a:xfrm>
          <a:prstGeom prst="ellipse">
            <a:avLst/>
          </a:prstGeom>
          <a:solidFill>
            <a:srgbClr val="5C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1847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9DDE3"/>
                </a:solidFill>
                <a:latin typeface="Calibri"/>
              </a:rPr>
              <a:t>terminal — zsh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6217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80" b="1" i="0">
                <a:solidFill>
                  <a:srgbClr val="D9731E"/>
                </a:solidFill>
                <a:latin typeface="Consolas"/>
              </a:rPr>
              <a:t>$ </a:t>
            </a:r>
            <a:r>
              <a:rPr sz="1080" b="0" i="0">
                <a:solidFill>
                  <a:srgbClr val="FFFFFF"/>
                </a:solidFill>
                <a:latin typeface="Consolas"/>
              </a:rPr>
              <a:t>cd YatraSetu-AI</a:t>
            </a:r>
          </a:p>
          <a:p>
            <a:pPr algn="l">
              <a:spcAft>
                <a:spcPts val="600"/>
              </a:spcAft>
            </a:pPr>
            <a:r>
              <a:rPr sz="1080" b="1" i="0">
                <a:solidFill>
                  <a:srgbClr val="D9731E"/>
                </a:solidFill>
                <a:latin typeface="Consolas"/>
              </a:rPr>
              <a:t>$ </a:t>
            </a:r>
            <a:r>
              <a:rPr sz="1080" b="0" i="0">
                <a:solidFill>
                  <a:srgbClr val="C9DDE3"/>
                </a:solidFill>
                <a:latin typeface="Consolas"/>
              </a:rPr>
              <a:t>cp .env.example .env        # optional: add OPENROUTER_API_KEY</a:t>
            </a:r>
          </a:p>
          <a:p>
            <a:pPr algn="l">
              <a:spcAft>
                <a:spcPts val="600"/>
              </a:spcAft>
            </a:pPr>
            <a:r>
              <a:rPr sz="1080" b="1" i="0">
                <a:solidFill>
                  <a:srgbClr val="D9731E"/>
                </a:solidFill>
                <a:latin typeface="Consolas"/>
              </a:rPr>
              <a:t>$ </a:t>
            </a:r>
            <a:r>
              <a:rPr sz="1080" b="0" i="0">
                <a:solidFill>
                  <a:srgbClr val="FFFFFF"/>
                </a:solidFill>
                <a:latin typeface="Consolas"/>
              </a:rPr>
              <a:t>./run.sh</a:t>
            </a:r>
          </a:p>
          <a:p>
            <a:pPr algn="l">
              <a:spcAft>
                <a:spcPts val="600"/>
              </a:spcAft>
            </a:pPr>
            <a:r>
              <a:rPr sz="1080" b="1" i="0">
                <a:solidFill>
                  <a:srgbClr val="D9731E"/>
                </a:solidFill>
                <a:latin typeface="Consolas"/>
              </a:rPr>
              <a:t/>
            </a:r>
            <a:r>
              <a:rPr sz="1080" b="0" i="0">
                <a:solidFill>
                  <a:srgbClr val="8FC9A8"/>
                </a:solidFill>
                <a:latin typeface="Consolas"/>
              </a:rPr>
              <a:t>Open http://127.0.0.1:8000  (dashboard: /admin)</a:t>
            </a:r>
          </a:p>
          <a:p>
            <a:pPr algn="l">
              <a:spcAft>
                <a:spcPts val="600"/>
              </a:spcAft>
            </a:pPr>
            <a:r>
              <a:rPr sz="1080" b="1" i="0">
                <a:solidFill>
                  <a:srgbClr val="D9731E"/>
                </a:solidFill>
                <a:latin typeface="Consolas"/>
              </a:rPr>
              <a:t>$ </a:t>
            </a:r>
            <a:r>
              <a:rPr sz="1080" b="0" i="0">
                <a:solidFill>
                  <a:srgbClr val="C9DDE3"/>
                </a:solidFill>
                <a:latin typeface="Consolas"/>
              </a:rPr>
              <a:t>pytest -q                   # 23 passed</a:t>
            </a:r>
          </a:p>
          <a:p>
            <a:pPr algn="l">
              <a:spcAft>
                <a:spcPts val="600"/>
              </a:spcAft>
            </a:pPr>
            <a:r>
              <a:rPr sz="1080" b="1" i="0">
                <a:solidFill>
                  <a:srgbClr val="D9731E"/>
                </a:solidFill>
                <a:latin typeface="Consolas"/>
              </a:rPr>
              <a:t>$ </a:t>
            </a:r>
            <a:r>
              <a:rPr sz="1080" b="0" i="0">
                <a:solidFill>
                  <a:srgbClr val="C9DDE3"/>
                </a:solidFill>
                <a:latin typeface="Consolas"/>
              </a:rPr>
              <a:t>python scripts/evaluate.py  # writes docs/evaluation_results.json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783080"/>
            <a:ext cx="42062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1938528"/>
            <a:ext cx="37490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30">
                <a:solidFill>
                  <a:srgbClr val="D9731E"/>
                </a:solidFill>
                <a:latin typeface="Calibri"/>
              </a:rPr>
              <a:t>TRAVELLER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2185416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4E5F"/>
                </a:solidFill>
                <a:latin typeface="Consolas"/>
              </a:rPr>
              <a:t>http://127.0.0.1:8000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254203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780"/>
                </a:solidFill>
                <a:latin typeface="Calibri"/>
              </a:rPr>
              <a:t>Assistant · crowd · route · health · SOS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3264408"/>
            <a:ext cx="42062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2" y="3419856"/>
            <a:ext cx="37490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30">
                <a:solidFill>
                  <a:srgbClr val="D9731E"/>
                </a:solidFill>
                <a:latin typeface="Calibri"/>
              </a:rPr>
              <a:t>OFFICIALS'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3666744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4E5F"/>
                </a:solidFill>
                <a:latin typeface="Consolas"/>
              </a:rPr>
              <a:t>http://127.0.0.1:8000/admin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402336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780"/>
                </a:solidFill>
                <a:latin typeface="Calibri"/>
              </a:rPr>
              <a:t>Advisories · road status · delivery ·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19472"/>
            <a:ext cx="4846320" cy="1234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047488"/>
            <a:ext cx="4480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30">
                <a:solidFill>
                  <a:srgbClr val="D9731E"/>
                </a:solidFill>
                <a:latin typeface="Calibri"/>
              </a:rPr>
              <a:t>DEMO LOGINS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29437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4E5F"/>
                </a:solidFill>
                <a:latin typeface="Consolas"/>
              </a:rPr>
              <a:t>editor / editor123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55955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4E5F"/>
                </a:solidFill>
                <a:latin typeface="Consolas"/>
              </a:rPr>
              <a:t>approver / approver123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833872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780"/>
                </a:solidFill>
                <a:latin typeface="Calibri"/>
              </a:rPr>
              <a:t>Editor drafts · approver publishes (four-eyes rule).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4919472"/>
            <a:ext cx="6035040" cy="1234440"/>
          </a:xfrm>
          <a:prstGeom prst="roundRect">
            <a:avLst>
              <a:gd name="adj" fmla="val 5500"/>
            </a:avLst>
          </a:prstGeom>
          <a:solidFill>
            <a:srgbClr val="FBEFE3"/>
          </a:solidFill>
          <a:ln w="12700">
            <a:solidFill>
              <a:srgbClr val="F1D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33872" y="5047488"/>
            <a:ext cx="5577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30">
                <a:solidFill>
                  <a:srgbClr val="D9731E"/>
                </a:solidFill>
                <a:latin typeface="Calibri"/>
              </a:rPr>
              <a:t>AI MODE — CHECK ONCE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3872" y="5294376"/>
            <a:ext cx="5577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1" i="0">
                <a:solidFill>
                  <a:srgbClr val="1F4E5F"/>
                </a:solidFill>
                <a:latin typeface="Calibri"/>
              </a:rPr>
              <a:t>With a key: </a:t>
            </a:r>
            <a:r>
              <a:rPr sz="1030" b="0" i="0">
                <a:solidFill>
                  <a:srgbClr val="1B2A33"/>
                </a:solidFill>
                <a:latin typeface="Calibri"/>
              </a:rPr>
              <a:t>OpenRouter + LangChain, on the traveller screen and at </a:t>
            </a:r>
            <a:r>
              <a:rPr sz="1030" b="0" i="0">
                <a:solidFill>
                  <a:srgbClr val="1F4E5F"/>
                </a:solidFill>
                <a:latin typeface="Consolas"/>
              </a:rPr>
              <a:t>/api/ai/status</a:t>
            </a:r>
            <a:r>
              <a:rPr sz="1030" b="0" i="0">
                <a:solidFill>
                  <a:srgbClr val="1B2A33"/>
                </a:solidFill>
                <a:latin typeface="Calibri"/>
              </a:rPr>
              <a:t>.
</a:t>
            </a:r>
            <a:r>
              <a:rPr sz="1030" b="1" i="0">
                <a:solidFill>
                  <a:srgbClr val="1F4E5F"/>
                </a:solidFill>
                <a:latin typeface="Calibri"/>
              </a:rPr>
              <a:t>No key: </a:t>
            </a:r>
            <a:r>
              <a:rPr sz="1030" b="0" i="0">
                <a:solidFill>
                  <a:srgbClr val="1B2A33"/>
                </a:solidFill>
                <a:latin typeface="Calibri"/>
              </a:rPr>
              <a:t>offline extractive mode. Same screens, same guardrails.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0"/>
                </a:solidFill>
                <a:latin typeface="Calibri"/>
              </a:rPr>
              <a:t>YatraSetu AI · Live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92240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0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D9731E"/>
                </a:solidFill>
                <a:latin typeface="Calibri"/>
              </a:rPr>
              <a:t>THE PROBLEM, IN ONE PERSON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09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4E5F"/>
                </a:solidFill>
                <a:latin typeface="Cambria"/>
              </a:rPr>
              <a:t>Meet Sunita, 62, from Pune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822960" cy="41148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254556"/>
            <a:ext cx="102870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109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780"/>
                </a:solidFill>
                <a:latin typeface="Calibri"/>
              </a:rPr>
              <a:t>She has the faith and the savings. What she does not have is one place that tells her the truth about tomorrow.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4709160" cy="4206240"/>
          </a:xfrm>
          <a:prstGeom prst="roundRect">
            <a:avLst>
              <a:gd name="adj" fmla="val 5500"/>
            </a:avLst>
          </a:prstGeom>
          <a:solidFill>
            <a:srgbClr val="1F4E5F"/>
          </a:solidFill>
          <a:ln w="12700">
            <a:solidFill>
              <a:srgbClr val="1F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D9731E"/>
                </a:solidFill>
                <a:latin typeface="Cambria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023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FFFFFF"/>
                </a:solidFill>
                <a:latin typeface="Cambria"/>
              </a:rPr>
              <a:t>I want to go, but I don't know if the road is open, how crowded it will be, or whether my body can take the climb.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4773168"/>
            <a:ext cx="822960" cy="41148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56048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9DDE3"/>
                </a:solidFill>
                <a:latin typeface="Calibri"/>
              </a:rPr>
              <a:t>Sunita, 62
First Char Dham yatra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783080"/>
            <a:ext cx="617220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15000" y="196596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1979676"/>
            <a:ext cx="1143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331720"/>
            <a:ext cx="5669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300"/>
              </a:spcAft>
            </a:pPr>
            <a:r>
              <a:rPr sz="112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120" b="0" i="0">
                <a:solidFill>
                  <a:srgbClr val="1B2A33"/>
                </a:solidFill>
                <a:latin typeface="Calibri"/>
              </a:rPr>
              <a:t>Five websites, two languages, no single answer.</a:t>
            </a:r>
          </a:p>
          <a:p>
            <a:pPr algn="l" marL="201168" indent="-201168">
              <a:lnSpc>
                <a:spcPct val="105000"/>
              </a:lnSpc>
              <a:spcAft>
                <a:spcPts val="300"/>
              </a:spcAft>
            </a:pPr>
            <a:r>
              <a:rPr sz="112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120" b="0" i="0">
                <a:solidFill>
                  <a:srgbClr val="1B2A33"/>
                </a:solidFill>
                <a:latin typeface="Calibri"/>
              </a:rPr>
              <a:t>Crowd advice is a district average, not her date.</a:t>
            </a:r>
          </a:p>
          <a:p>
            <a:pPr algn="l" marL="201168" indent="-201168">
              <a:lnSpc>
                <a:spcPct val="105000"/>
              </a:lnSpc>
              <a:spcAft>
                <a:spcPts val="300"/>
              </a:spcAft>
            </a:pPr>
            <a:r>
              <a:rPr sz="112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120" b="0" i="0">
                <a:solidFill>
                  <a:srgbClr val="1B2A33"/>
                </a:solidFill>
                <a:latin typeface="Calibri"/>
              </a:rPr>
              <a:t>A landslide is discovered at the debris, not before.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877056"/>
            <a:ext cx="6172200" cy="2112264"/>
          </a:xfrm>
          <a:prstGeom prst="roundRect">
            <a:avLst>
              <a:gd name="adj" fmla="val 5500"/>
            </a:avLst>
          </a:prstGeom>
          <a:solidFill>
            <a:srgbClr val="E6EFF1"/>
          </a:solidFill>
          <a:ln w="12700">
            <a:solidFill>
              <a:srgbClr val="C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15000" y="4059936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4073652"/>
            <a:ext cx="15087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WITH YATRASETU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425696"/>
            <a:ext cx="56692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300"/>
              </a:spcAft>
            </a:pPr>
            <a:r>
              <a:rPr sz="1120" b="1" i="0">
                <a:solidFill>
                  <a:srgbClr val="1F4E5F"/>
                </a:solidFill>
                <a:latin typeface="Calibri"/>
              </a:rPr>
              <a:t>•  </a:t>
            </a:r>
            <a:r>
              <a:rPr sz="1120" b="0" i="0">
                <a:solidFill>
                  <a:srgbClr val="1B2A33"/>
                </a:solidFill>
                <a:latin typeface="Calibri"/>
              </a:rPr>
              <a:t>One assistant, in Hindi, with sources and dates.</a:t>
            </a:r>
          </a:p>
          <a:p>
            <a:pPr algn="l" marL="201168" indent="-201168">
              <a:lnSpc>
                <a:spcPct val="105000"/>
              </a:lnSpc>
              <a:spcAft>
                <a:spcPts val="300"/>
              </a:spcAft>
            </a:pPr>
            <a:r>
              <a:rPr sz="1120" b="1" i="0">
                <a:solidFill>
                  <a:srgbClr val="1F4E5F"/>
                </a:solidFill>
                <a:latin typeface="Calibri"/>
              </a:rPr>
              <a:t>•  </a:t>
            </a:r>
            <a:r>
              <a:rPr sz="1120" b="0" i="0">
                <a:solidFill>
                  <a:srgbClr val="1B2A33"/>
                </a:solidFill>
                <a:latin typeface="Calibri"/>
              </a:rPr>
              <a:t>A lighter date and a route risk for her actual road.</a:t>
            </a:r>
          </a:p>
          <a:p>
            <a:pPr algn="l" marL="201168" indent="-201168">
              <a:lnSpc>
                <a:spcPct val="105000"/>
              </a:lnSpc>
              <a:spcAft>
                <a:spcPts val="300"/>
              </a:spcAft>
            </a:pPr>
            <a:r>
              <a:rPr sz="1120" b="1" i="0">
                <a:solidFill>
                  <a:srgbClr val="1F4E5F"/>
                </a:solidFill>
                <a:latin typeface="Calibri"/>
              </a:rPr>
              <a:t>•  </a:t>
            </a:r>
            <a:r>
              <a:rPr sz="1120" b="0" i="0">
                <a:solidFill>
                  <a:srgbClr val="1B2A33"/>
                </a:solidFill>
                <a:latin typeface="Calibri"/>
              </a:rPr>
              <a:t>A WhatsApp alert with the nearest safe halt — before she leaves.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0"/>
                </a:solidFill>
                <a:latin typeface="Calibri"/>
              </a:rPr>
              <a:t>YatraSetu AI · Live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92240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0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D9731E"/>
                </a:solidFill>
                <a:latin typeface="Calibri"/>
              </a:rPr>
              <a:t>DEMO · 01 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09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4E5F"/>
                </a:solidFill>
                <a:latin typeface="Cambria"/>
              </a:rPr>
              <a:t>Ask in your language. Get a sourced answer.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822960" cy="41148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254556"/>
            <a:ext cx="102870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109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780"/>
                </a:solidFill>
                <a:latin typeface="Calibri"/>
              </a:rPr>
              <a:t>Type in English or Hindi; the reply cites approved content or live data — never an unsourced guess.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903720" cy="4526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assistant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64792"/>
            <a:ext cx="6757416" cy="4142232"/>
          </a:xfrm>
          <a:prstGeom prst="rect">
            <a:avLst/>
          </a:prstGeom>
          <a:ln w="9525">
            <a:solidFill>
              <a:srgbClr val="D6DEE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5998464"/>
            <a:ext cx="6583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780"/>
                </a:solidFill>
                <a:latin typeface="Calibri"/>
              </a:rPr>
              <a:t>Live screenshot · traveller app, assistant tab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700784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RUN IT LIVE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1993392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011680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7" y="1965960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Open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the traveller app and leave language on Auto.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2560320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578608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2532888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Ask: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“Is Kedarnath crowded this week?”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127248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3145536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3099816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Then ask in Hindi: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“केदारनाथ में कल कितनी भीड़ होगी?”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3785616"/>
            <a:ext cx="38862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3904488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POINT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133088"/>
            <a:ext cx="3931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Live forecast in the answer, not just prose</a:t>
            </a:r>
          </a:p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Source title + last-updated date</a:t>
            </a:r>
          </a:p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Right panel shows intent and confidence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5468112"/>
            <a:ext cx="3913632" cy="786384"/>
          </a:xfrm>
          <a:prstGeom prst="roundRect">
            <a:avLst>
              <a:gd name="adj" fmla="val 5500"/>
            </a:avLst>
          </a:prstGeom>
          <a:solidFill>
            <a:srgbClr val="FBEFE3"/>
          </a:solidFill>
          <a:ln w="12700">
            <a:solidFill>
              <a:srgbClr val="F1D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1271" y="5568696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D9731E"/>
                </a:solidFill>
                <a:latin typeface="Cambria"/>
              </a:rPr>
              <a:t>“</a:t>
            </a:r>
            <a:r>
              <a:rPr sz="1120" b="0" i="1">
                <a:solidFill>
                  <a:srgbClr val="8A4A12"/>
                </a:solidFill>
                <a:latin typeface="Calibri"/>
              </a:rPr>
              <a:t>Every answer is grounded — or it says it cannot answer.</a:t>
            </a:r>
            <a:r>
              <a:rPr sz="1900" b="1" i="0">
                <a:solidFill>
                  <a:srgbClr val="D9731E"/>
                </a:solidFill>
                <a:latin typeface="Cambria"/>
              </a:rPr>
              <a:t>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0"/>
                </a:solidFill>
                <a:latin typeface="Calibri"/>
              </a:rPr>
              <a:t>YatraSetu AI · Live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92240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0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D9731E"/>
                </a:solidFill>
                <a:latin typeface="Calibri"/>
              </a:rPr>
              <a:t>DEMO · 02  SAFETY 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09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4E5F"/>
                </a:solidFill>
                <a:latin typeface="Cambria"/>
              </a:rPr>
              <a:t>When it is an emergency, the model is not in the loop.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822960" cy="41148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254556"/>
            <a:ext cx="102870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109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780"/>
                </a:solidFill>
                <a:latin typeface="Calibri"/>
              </a:rPr>
              <a:t>A deterministic keyword override returns 112/108 instructions immediately, whatever the LLM is doing.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903720" cy="4526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assistant_emergency_fa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64792"/>
            <a:ext cx="6757416" cy="4142232"/>
          </a:xfrm>
          <a:prstGeom prst="rect">
            <a:avLst/>
          </a:prstGeom>
          <a:ln w="9525">
            <a:solidFill>
              <a:srgbClr val="D6DEE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5998464"/>
            <a:ext cx="6583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780"/>
                </a:solidFill>
                <a:latin typeface="Calibri"/>
              </a:rPr>
              <a:t>Live screenshot · emergency override and off-topic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700784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RUN IT LIVE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1993392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011680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7" y="1965960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Type: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“my father has chest pain near Linchauli”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2560320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578608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2532888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Point at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the red SOS styling and Call 112.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127248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3145536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3099816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Ask an off-topic question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to show the honest fallback.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3785616"/>
            <a:ext cx="38862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3904488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POINT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133088"/>
            <a:ext cx="3931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Emergency recall 100% in evaluation</a:t>
            </a:r>
          </a:p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No API call, no latency, no hallucination</a:t>
            </a:r>
          </a:p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Unknown topics get 112, not invented facts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5468112"/>
            <a:ext cx="3913632" cy="786384"/>
          </a:xfrm>
          <a:prstGeom prst="roundRect">
            <a:avLst>
              <a:gd name="adj" fmla="val 5500"/>
            </a:avLst>
          </a:prstGeom>
          <a:solidFill>
            <a:srgbClr val="FBEFE3"/>
          </a:solidFill>
          <a:ln w="12700">
            <a:solidFill>
              <a:srgbClr val="F1D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1271" y="5568696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D9731E"/>
                </a:solidFill>
                <a:latin typeface="Cambria"/>
              </a:rPr>
              <a:t>“</a:t>
            </a:r>
            <a:r>
              <a:rPr sz="1120" b="0" i="1">
                <a:solidFill>
                  <a:srgbClr val="8A4A12"/>
                </a:solidFill>
                <a:latin typeface="Calibri"/>
              </a:rPr>
              <a:t>The worst moment to be creative is an emergency.</a:t>
            </a:r>
            <a:r>
              <a:rPr sz="1900" b="1" i="0">
                <a:solidFill>
                  <a:srgbClr val="D9731E"/>
                </a:solidFill>
                <a:latin typeface="Cambria"/>
              </a:rPr>
              <a:t>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0"/>
                </a:solidFill>
                <a:latin typeface="Calibri"/>
              </a:rPr>
              <a:t>YatraSetu AI · Live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92240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0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D9731E"/>
                </a:solidFill>
                <a:latin typeface="Calibri"/>
              </a:rPr>
              <a:t>DEMO · 03  CROWD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09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4E5F"/>
                </a:solidFill>
                <a:latin typeface="Cambria"/>
              </a:rPr>
              <a:t>Spread the crowd before it forms.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822960" cy="41148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254556"/>
            <a:ext cx="102870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109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780"/>
                </a:solidFill>
                <a:latin typeface="Calibri"/>
              </a:rPr>
              <a:t>A 7-day footfall forecast per shrine, compared with that shrine's recommended daily carrying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903720" cy="4526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crowd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64792"/>
            <a:ext cx="6757416" cy="4142232"/>
          </a:xfrm>
          <a:prstGeom prst="rect">
            <a:avLst/>
          </a:prstGeom>
          <a:ln w="9525">
            <a:solidFill>
              <a:srgbClr val="D6DEE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5998464"/>
            <a:ext cx="6583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780"/>
                </a:solidFill>
                <a:latin typeface="Calibri"/>
              </a:rPr>
              <a:t>Live screenshot · crowd forecast with capacity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700784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RUN IT LIVE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1993392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011680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7" y="1965960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Open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Crowd forecast and pick Kedarnath.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2560320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578608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2532888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Read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the day cards: Low / Moderate / High / Over capacity.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127248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3145536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3099816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Find a High day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and show the lighter-date suggestion.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3785616"/>
            <a:ext cx="38862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3904488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POINT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133088"/>
            <a:ext cx="3931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Capacity 13,111/day for Kedarnath</a:t>
            </a:r>
          </a:p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MAPE 13.3% on the held-out 2025 season</a:t>
            </a:r>
          </a:p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Suggests two lighter dates and an alternative shrine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5468112"/>
            <a:ext cx="3913632" cy="786384"/>
          </a:xfrm>
          <a:prstGeom prst="roundRect">
            <a:avLst>
              <a:gd name="adj" fmla="val 5500"/>
            </a:avLst>
          </a:prstGeom>
          <a:solidFill>
            <a:srgbClr val="FBEFE3"/>
          </a:solidFill>
          <a:ln w="12700">
            <a:solidFill>
              <a:srgbClr val="F1D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1271" y="5568696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D9731E"/>
                </a:solidFill>
                <a:latin typeface="Cambria"/>
              </a:rPr>
              <a:t>“</a:t>
            </a:r>
            <a:r>
              <a:rPr sz="1120" b="0" i="1">
                <a:solidFill>
                  <a:srgbClr val="8A4A12"/>
                </a:solidFill>
                <a:latin typeface="Calibri"/>
              </a:rPr>
              <a:t>We don't just predict the crowd — we move it.</a:t>
            </a:r>
            <a:r>
              <a:rPr sz="1900" b="1" i="0">
                <a:solidFill>
                  <a:srgbClr val="D9731E"/>
                </a:solidFill>
                <a:latin typeface="Cambria"/>
              </a:rPr>
              <a:t>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0"/>
                </a:solidFill>
                <a:latin typeface="Calibri"/>
              </a:rPr>
              <a:t>YatraSetu AI · Live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92240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0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D9731E"/>
                </a:solidFill>
                <a:latin typeface="Calibri"/>
              </a:rPr>
              <a:t>DEMO · 04  ROUTE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09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4E5F"/>
                </a:solidFill>
                <a:latin typeface="Cambria"/>
              </a:rPr>
              <a:t>Not a district alert — your road, on your date.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822960" cy="41148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254556"/>
            <a:ext cx="102870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109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780"/>
                </a:solidFill>
                <a:latin typeface="Calibri"/>
              </a:rPr>
              <a:t>Every route segment gets a transparent 0–100 score from IMD alerts, rain, official road status and terrain.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903720" cy="4526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route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608" y="1764792"/>
            <a:ext cx="5407782" cy="4142232"/>
          </a:xfrm>
          <a:prstGeom prst="rect">
            <a:avLst/>
          </a:prstGeom>
          <a:ln w="9525">
            <a:solidFill>
              <a:srgbClr val="D6DEE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5998464"/>
            <a:ext cx="6583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780"/>
                </a:solidFill>
                <a:latin typeface="Calibri"/>
              </a:rPr>
              <a:t>Live screenshot · route-risk map and segment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700784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RUN IT LIVE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1993392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011680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7" y="1965960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Open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Route risk and choose Kedarnath.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2560320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578608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2532888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Click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Check route: worst segment, score and reasons.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127248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3145536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3099816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Hover the map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to show why each segment is coloured.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3785616"/>
            <a:ext cx="38862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3904488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POINT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133088"/>
            <a:ext cx="3931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18 segments on the Char Dham network</a:t>
            </a:r>
          </a:p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Closed road always forces Red</a:t>
            </a:r>
          </a:p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Orange/Red adds a safe halt with stay + medical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5468112"/>
            <a:ext cx="3913632" cy="786384"/>
          </a:xfrm>
          <a:prstGeom prst="roundRect">
            <a:avLst>
              <a:gd name="adj" fmla="val 5500"/>
            </a:avLst>
          </a:prstGeom>
          <a:solidFill>
            <a:srgbClr val="FBEFE3"/>
          </a:solidFill>
          <a:ln w="12700">
            <a:solidFill>
              <a:srgbClr val="F1D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1271" y="5568696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D9731E"/>
                </a:solidFill>
                <a:latin typeface="Cambria"/>
              </a:rPr>
              <a:t>“</a:t>
            </a:r>
            <a:r>
              <a:rPr sz="1120" b="0" i="1">
                <a:solidFill>
                  <a:srgbClr val="8A4A12"/>
                </a:solidFill>
                <a:latin typeface="Calibri"/>
              </a:rPr>
              <a:t>The score is explainable, because safety advice must be.</a:t>
            </a:r>
            <a:r>
              <a:rPr sz="1900" b="1" i="0">
                <a:solidFill>
                  <a:srgbClr val="D9731E"/>
                </a:solidFill>
                <a:latin typeface="Cambria"/>
              </a:rPr>
              <a:t>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0"/>
                </a:solidFill>
                <a:latin typeface="Calibri"/>
              </a:rPr>
              <a:t>YatraSetu AI · Live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92240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0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D9731E"/>
                </a:solidFill>
                <a:latin typeface="Calibri"/>
              </a:rPr>
              <a:t>DEMO · 05  HEALTH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09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4E5F"/>
                </a:solidFill>
                <a:latin typeface="Cambria"/>
              </a:rPr>
              <a:t>The cheapest rescue is the one that never happens.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822960" cy="41148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254556"/>
            <a:ext cx="102870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109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780"/>
                </a:solidFill>
                <a:latin typeface="Calibri"/>
              </a:rPr>
              <a:t>A conservative, rule-based readiness check — never a diagnosis — with screening points on the actual route.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903720" cy="4526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health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64792"/>
            <a:ext cx="6757416" cy="4142232"/>
          </a:xfrm>
          <a:prstGeom prst="rect">
            <a:avLst/>
          </a:prstGeom>
          <a:ln w="9525">
            <a:solidFill>
              <a:srgbClr val="D6DEE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5998464"/>
            <a:ext cx="6583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780"/>
                </a:solidFill>
                <a:latin typeface="Calibri"/>
              </a:rPr>
              <a:t>Live screenshot · health readiness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700784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RUN IT LIVE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1993392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011680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7" y="1965960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Enter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age 68, high blood pressure, medium fitness.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2560320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578608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2532888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Click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Check readiness → Consult doctor first.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127248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3145536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3099816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Tick chest pain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to show the red-flag stop.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3785616"/>
            <a:ext cx="38862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3904488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POINT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133088"/>
            <a:ext cx="3931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Four categories, from Ready to Do not trek now</a:t>
            </a:r>
          </a:p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Screening mandatory at 50+</a:t>
            </a:r>
          </a:p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Sonprayag screening point + medical posts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5468112"/>
            <a:ext cx="3913632" cy="786384"/>
          </a:xfrm>
          <a:prstGeom prst="roundRect">
            <a:avLst>
              <a:gd name="adj" fmla="val 5500"/>
            </a:avLst>
          </a:prstGeom>
          <a:solidFill>
            <a:srgbClr val="FBEFE3"/>
          </a:solidFill>
          <a:ln w="12700">
            <a:solidFill>
              <a:srgbClr val="F1D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1271" y="5568696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D9731E"/>
                </a:solidFill>
                <a:latin typeface="Cambria"/>
              </a:rPr>
              <a:t>“</a:t>
            </a:r>
            <a:r>
              <a:rPr sz="1120" b="0" i="1">
                <a:solidFill>
                  <a:srgbClr val="8A4A12"/>
                </a:solidFill>
                <a:latin typeface="Calibri"/>
              </a:rPr>
              <a:t>It sorts risk. It does not play doctor.</a:t>
            </a:r>
            <a:r>
              <a:rPr sz="1900" b="1" i="0">
                <a:solidFill>
                  <a:srgbClr val="D9731E"/>
                </a:solidFill>
                <a:latin typeface="Cambria"/>
              </a:rPr>
              <a:t>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0"/>
                </a:solidFill>
                <a:latin typeface="Calibri"/>
              </a:rPr>
              <a:t>YatraSetu AI · Live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92240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0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D9731E"/>
                </a:solidFill>
                <a:latin typeface="Calibri"/>
              </a:rPr>
              <a:t>DEMO · 06  ALERTS &amp; 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09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4E5F"/>
                </a:solidFill>
                <a:latin typeface="Cambria"/>
              </a:rPr>
              <a:t>One message reaches only the people on that road.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822960" cy="41148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254556"/>
            <a:ext cx="102870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109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780"/>
                </a:solidFill>
                <a:latin typeface="Calibri"/>
              </a:rPr>
              <a:t>Consent-based trip subscription, WhatsApp delivery with SMS fallback, and an SOS that finds the nearest help.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903720" cy="4526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alerts_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64792"/>
            <a:ext cx="6757416" cy="4142232"/>
          </a:xfrm>
          <a:prstGeom prst="rect">
            <a:avLst/>
          </a:prstGeom>
          <a:ln w="9525">
            <a:solidFill>
              <a:srgbClr val="D6DEE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5998464"/>
            <a:ext cx="6583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780"/>
                </a:solidFill>
                <a:latin typeface="Calibri"/>
              </a:rPr>
              <a:t>Live screenshot · trip subscription and 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700784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RUN IT LIVE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1993392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011680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7" y="1965960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Subscribe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a trip with the consent box ticked.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2560320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578608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2532888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Send SOS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from 30.66, 79.03 and show nearest help.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127248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3145536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3099816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Note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the masked number and hashed storage.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3785616"/>
            <a:ext cx="38862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3904488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POINT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133088"/>
            <a:ext cx="3931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DPDP-style consent required</a:t>
            </a:r>
          </a:p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WhatsApp first; SMS on failure</a:t>
            </a:r>
          </a:p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SOS returns nearest medical facility + 112 link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5468112"/>
            <a:ext cx="3913632" cy="786384"/>
          </a:xfrm>
          <a:prstGeom prst="roundRect">
            <a:avLst>
              <a:gd name="adj" fmla="val 5500"/>
            </a:avLst>
          </a:prstGeom>
          <a:solidFill>
            <a:srgbClr val="FBEFE3"/>
          </a:solidFill>
          <a:ln w="12700">
            <a:solidFill>
              <a:srgbClr val="F1D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1271" y="5568696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D9731E"/>
                </a:solidFill>
                <a:latin typeface="Cambria"/>
              </a:rPr>
              <a:t>“</a:t>
            </a:r>
            <a:r>
              <a:rPr sz="1120" b="0" i="1">
                <a:solidFill>
                  <a:srgbClr val="8A4A12"/>
                </a:solidFill>
                <a:latin typeface="Calibri"/>
              </a:rPr>
              <a:t>Alerts are targeted by route segment and date, not broadcast to everyone.</a:t>
            </a:r>
            <a:r>
              <a:rPr sz="1900" b="1" i="0">
                <a:solidFill>
                  <a:srgbClr val="D9731E"/>
                </a:solidFill>
                <a:latin typeface="Cambria"/>
              </a:rPr>
              <a:t>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0"/>
                </a:solidFill>
                <a:latin typeface="Calibri"/>
              </a:rPr>
              <a:t>YatraSetu AI · Live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92240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D9731E"/>
                </a:solidFill>
                <a:latin typeface="Calibri"/>
              </a:rPr>
              <a:t>DEMO · 07  CONTROL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09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4E5F"/>
                </a:solidFill>
                <a:latin typeface="Cambria"/>
              </a:rPr>
              <a:t>One screen for the district control room.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822960" cy="41148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254556"/>
            <a:ext cx="102870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109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780"/>
                </a:solidFill>
                <a:latin typeface="Calibri"/>
              </a:rPr>
              <a:t>Advisories, live road and weather status, delivery reports, model back-test and a full audit trail.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903720" cy="4526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admi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64792"/>
            <a:ext cx="6757416" cy="4142232"/>
          </a:xfrm>
          <a:prstGeom prst="rect">
            <a:avLst/>
          </a:prstGeom>
          <a:ln w="9525">
            <a:solidFill>
              <a:srgbClr val="D6DEE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5998464"/>
            <a:ext cx="6583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780"/>
                </a:solidFill>
                <a:latin typeface="Calibri"/>
              </a:rPr>
              <a:t>Live screenshot · officials' dashboard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700784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RUN IT LIVE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1993392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011680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7" y="1965960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Open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/admin and sign in as editor.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2560320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578608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2532888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Show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the KPI strip and queries by language.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127248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3145536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3099816"/>
            <a:ext cx="3547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Switch tabs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to Advisories and Audit.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3785616"/>
            <a:ext cx="38862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3904488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POINT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133088"/>
            <a:ext cx="3931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Role-based access: editor vs approver</a:t>
            </a:r>
          </a:p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Queries by intent and language</a:t>
            </a:r>
          </a:p>
          <a:p>
            <a:pPr algn="l" marL="201168" indent="-201168">
              <a:lnSpc>
                <a:spcPct val="100000"/>
              </a:lnSpc>
              <a:spcAft>
                <a:spcPts val="250"/>
              </a:spcAft>
            </a:pPr>
            <a:r>
              <a:rPr sz="1080" b="1" i="0">
                <a:solidFill>
                  <a:srgbClr val="D9731E"/>
                </a:solidFill>
                <a:latin typeface="Calibri"/>
              </a:rPr>
              <a:t>•  </a:t>
            </a:r>
            <a:r>
              <a:rPr sz="1080" b="0" i="0">
                <a:solidFill>
                  <a:srgbClr val="1B2A33"/>
                </a:solidFill>
                <a:latin typeface="Calibri"/>
              </a:rPr>
              <a:t>Every action lands in the audit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5468112"/>
            <a:ext cx="3913632" cy="786384"/>
          </a:xfrm>
          <a:prstGeom prst="roundRect">
            <a:avLst>
              <a:gd name="adj" fmla="val 5500"/>
            </a:avLst>
          </a:prstGeom>
          <a:solidFill>
            <a:srgbClr val="FBEFE3"/>
          </a:solidFill>
          <a:ln w="12700">
            <a:solidFill>
              <a:srgbClr val="F1D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1271" y="5568696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D9731E"/>
                </a:solidFill>
                <a:latin typeface="Cambria"/>
              </a:rPr>
              <a:t>“</a:t>
            </a:r>
            <a:r>
              <a:rPr sz="1120" b="0" i="1">
                <a:solidFill>
                  <a:srgbClr val="8A4A12"/>
                </a:solidFill>
                <a:latin typeface="Calibri"/>
              </a:rPr>
              <a:t>The control room can see what pilgrims are actually asking.</a:t>
            </a:r>
            <a:r>
              <a:rPr sz="1900" b="1" i="0">
                <a:solidFill>
                  <a:srgbClr val="D9731E"/>
                </a:solidFill>
                <a:latin typeface="Cambria"/>
              </a:rPr>
              <a:t>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0"/>
                </a:solidFill>
                <a:latin typeface="Calibri"/>
              </a:rPr>
              <a:t>YatraSetu AI · Live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92240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D9731E"/>
                </a:solidFill>
                <a:latin typeface="Calibri"/>
              </a:rPr>
              <a:t>DEMO · 08  FOUR-EYES BROADCAST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09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4E5F"/>
                </a:solidFill>
                <a:latin typeface="Cambria"/>
              </a:rPr>
              <a:t>Draft → approve → broadcast. In under a minute.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822960" cy="41148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254556"/>
            <a:ext cx="102870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109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780"/>
                </a:solidFill>
                <a:latin typeface="Calibri"/>
              </a:rPr>
              <a:t>The author cannot publish their own advisory. Approval updates the assistant and messages affected trips.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903720" cy="3383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_admin_alert_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546" y="1764792"/>
            <a:ext cx="5373907" cy="2999232"/>
          </a:xfrm>
          <a:prstGeom prst="rect">
            <a:avLst/>
          </a:prstGeom>
          <a:ln w="9525">
            <a:solidFill>
              <a:srgbClr val="D6DEE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5138928"/>
            <a:ext cx="6629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780"/>
                </a:solidFill>
                <a:latin typeface="Calibri"/>
              </a:rPr>
              <a:t>Live screenshot · delivery log: affected trips only, WhatsApp first, SMS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468112"/>
            <a:ext cx="2212848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55040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F4E5F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5623560"/>
            <a:ext cx="1508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6B7780"/>
                </a:solidFill>
                <a:latin typeface="Calibri"/>
              </a:rPr>
              <a:t>affected trips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5468112"/>
            <a:ext cx="2212848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555040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E8B57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5623560"/>
            <a:ext cx="1508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6B7780"/>
                </a:solidFill>
                <a:latin typeface="Calibri"/>
              </a:rPr>
              <a:t>WhatsApp delivered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5468112"/>
            <a:ext cx="2212848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3" y="555040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9731E"/>
                </a:solidFill>
                <a:latin typeface="Cambria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59" y="5623560"/>
            <a:ext cx="1508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6B7780"/>
                </a:solidFill>
                <a:latin typeface="Calibri"/>
              </a:rPr>
              <a:t>SMS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1700784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THE WORKFLOW</a:t>
            </a:r>
          </a:p>
        </p:txBody>
      </p:sp>
      <p:sp>
        <p:nvSpPr>
          <p:cNvPr id="20" name="Oval 19"/>
          <p:cNvSpPr/>
          <p:nvPr/>
        </p:nvSpPr>
        <p:spPr>
          <a:xfrm>
            <a:off x="7818120" y="2011680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2029968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1984248"/>
            <a:ext cx="3456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Draft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Editor writes EN + HI, picks the affected segment and validity.</a:t>
            </a:r>
          </a:p>
        </p:txBody>
      </p:sp>
      <p:sp>
        <p:nvSpPr>
          <p:cNvPr id="23" name="Oval 22"/>
          <p:cNvSpPr/>
          <p:nvPr/>
        </p:nvSpPr>
        <p:spPr>
          <a:xfrm>
            <a:off x="7818120" y="2670048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2688336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2642616"/>
            <a:ext cx="3456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Approve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A different official publishes. Self-approval returns 403.</a:t>
            </a:r>
          </a:p>
        </p:txBody>
      </p:sp>
      <p:sp>
        <p:nvSpPr>
          <p:cNvPr id="26" name="Oval 25"/>
          <p:cNvSpPr/>
          <p:nvPr/>
        </p:nvSpPr>
        <p:spPr>
          <a:xfrm>
            <a:off x="7818120" y="3328416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3346704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3300984"/>
            <a:ext cx="3456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Broadcast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Only trips on that segment and date are messaged; SMS on failure.</a:t>
            </a:r>
          </a:p>
        </p:txBody>
      </p:sp>
      <p:sp>
        <p:nvSpPr>
          <p:cNvPr id="29" name="Oval 28"/>
          <p:cNvSpPr/>
          <p:nvPr/>
        </p:nvSpPr>
        <p:spPr>
          <a:xfrm>
            <a:off x="7818120" y="3986783"/>
            <a:ext cx="274320" cy="27432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4005072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8" y="3959352"/>
            <a:ext cx="3456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F4E5F"/>
                </a:solidFill>
                <a:latin typeface="Calibri"/>
              </a:rPr>
              <a:t>Index </a:t>
            </a:r>
            <a:r>
              <a:rPr sz="1150" b="0" i="0">
                <a:solidFill>
                  <a:srgbClr val="1B2A33"/>
                </a:solidFill>
                <a:latin typeface="Calibri"/>
              </a:rPr>
              <a:t>The advisory is immediately searchable by the assistant.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20" y="4672583"/>
            <a:ext cx="3822191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18120" y="4809744"/>
            <a:ext cx="3822191" cy="960120"/>
          </a:xfrm>
          <a:prstGeom prst="roundRect">
            <a:avLst>
              <a:gd name="adj" fmla="val 5500"/>
            </a:avLst>
          </a:prstGeom>
          <a:solidFill>
            <a:srgbClr val="FBEFE3"/>
          </a:solidFill>
          <a:ln w="12700">
            <a:solidFill>
              <a:srgbClr val="F1D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82712" y="4910327"/>
            <a:ext cx="3520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019" b="1" i="0">
                <a:solidFill>
                  <a:srgbClr val="1F4E5F"/>
                </a:solidFill>
                <a:latin typeface="Calibri"/>
              </a:rPr>
              <a:t>Try it live: </a:t>
            </a:r>
            <a:r>
              <a:rPr sz="1019" b="0" i="0">
                <a:solidFill>
                  <a:srgbClr val="1B2A33"/>
                </a:solidFill>
                <a:latin typeface="Calibri"/>
              </a:rPr>
              <a:t>draft the seeded Sonprayag advisory as editor, approve it as approver, then ask the assistant “Is there debris near Sonprayag?”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9224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0"/>
                </a:solidFill>
                <a:latin typeface="Calibri"/>
              </a:rPr>
              <a:t>YatraSetu AI · Live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92240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D9731E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09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4E5F"/>
                </a:solidFill>
                <a:latin typeface="Cambria"/>
              </a:rPr>
              <a:t>Grounded AI, not a chatbot wrapper.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822960" cy="41148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254556"/>
            <a:ext cx="102870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109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780"/>
                </a:solidFill>
                <a:latin typeface="Calibri"/>
              </a:rPr>
              <a:t>The generative step is one small LangChain chain, fenced by retrieval, safety rules and a numeric guardrail.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7726679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64792"/>
            <a:ext cx="7580375" cy="3776472"/>
          </a:xfrm>
          <a:prstGeom prst="rect">
            <a:avLst/>
          </a:prstGeom>
          <a:ln w="9525">
            <a:solidFill>
              <a:srgbClr val="D6DEE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5925312"/>
            <a:ext cx="7452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780"/>
                </a:solidFill>
                <a:latin typeface="Calibri"/>
              </a:rPr>
              <a:t>System architecture · FastAPI services, data stores and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700784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THE AI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1993392"/>
            <a:ext cx="310896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77656" y="2130552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731E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103120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4E5F"/>
                </a:solidFill>
                <a:latin typeface="Calibri"/>
              </a:rPr>
              <a:t>Language + 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359152"/>
            <a:ext cx="2514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40" b="0" i="0">
                <a:solidFill>
                  <a:srgbClr val="6B7780"/>
                </a:solidFill>
                <a:latin typeface="Calibri"/>
              </a:rPr>
              <a:t>Hindi / English, emergency override first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2907792"/>
            <a:ext cx="310896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77656" y="3044952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731E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017520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4E5F"/>
                </a:solidFill>
                <a:latin typeface="Calibri"/>
              </a:rPr>
              <a:t>Hybrid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273552"/>
            <a:ext cx="2514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40" b="0" i="0">
                <a:solidFill>
                  <a:srgbClr val="6B7780"/>
                </a:solidFill>
                <a:latin typeface="Calibri"/>
              </a:rPr>
              <a:t>TF-IDF word + char n-grams over approved docs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3822191"/>
            <a:ext cx="310896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77656" y="3959352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731E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931920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4E5F"/>
                </a:solidFill>
                <a:latin typeface="Calibri"/>
              </a:rPr>
              <a:t>LangChain LCEL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4187952"/>
            <a:ext cx="2514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40" b="0" i="0">
                <a:solidFill>
                  <a:srgbClr val="6B7780"/>
                </a:solidFill>
                <a:latin typeface="Calibri"/>
              </a:rPr>
              <a:t>prompt → OpenRouter model → parser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4736592"/>
            <a:ext cx="310896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77656" y="4873752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731E"/>
                </a:solidFill>
                <a:latin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4846320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4E5F"/>
                </a:solidFill>
                <a:latin typeface="Calibri"/>
              </a:rPr>
              <a:t>Guardrails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5102352"/>
            <a:ext cx="2514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40" b="0" i="0">
                <a:solidFill>
                  <a:srgbClr val="6B7780"/>
                </a:solidFill>
                <a:latin typeface="Calibri"/>
              </a:rPr>
              <a:t>numbers must exist in passages; else extractive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245352"/>
            <a:ext cx="11064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1">
                <a:solidFill>
                  <a:srgbClr val="6B7780"/>
                </a:solidFill>
                <a:latin typeface="Calibri"/>
              </a:rPr>
              <a:t>OpenRouter + LangChain are optional: with no key, steps 3–4 are skipped and the extractive answer is used.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0"/>
                </a:solidFill>
                <a:latin typeface="Calibri"/>
              </a:rPr>
              <a:t>YatraSetu AI · Live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92240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D9731E"/>
                </a:solidFill>
                <a:latin typeface="Calibri"/>
              </a:rPr>
              <a:t>PROOF, NOT PROMISES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09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4E5F"/>
                </a:solidFill>
                <a:latin typeface="Cambria"/>
              </a:rPr>
              <a:t>The prototype already performs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822960" cy="41148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254556"/>
            <a:ext cx="102870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109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780"/>
                </a:solidFill>
                <a:latin typeface="Calibri"/>
              </a:rPr>
              <a:t>Everything below is reproducible from the repository in about two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56616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4864" cy="1371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47672"/>
            <a:ext cx="32004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E8B57"/>
                </a:solidFill>
                <a:latin typeface="Cambria"/>
              </a:rPr>
              <a:t>23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41448"/>
            <a:ext cx="31546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780"/>
                </a:solidFill>
                <a:latin typeface="Calibri"/>
              </a:rPr>
              <a:t>automated tests pass
(unit + API + LangChain guardrails)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783080"/>
            <a:ext cx="356616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783080"/>
            <a:ext cx="54864" cy="1371600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47672"/>
            <a:ext cx="32004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D9731E"/>
                </a:solidFill>
                <a:latin typeface="Cambria"/>
              </a:rPr>
              <a:t>87.5% / 95.0%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41448"/>
            <a:ext cx="31546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780"/>
                </a:solidFill>
                <a:latin typeface="Calibri"/>
              </a:rPr>
              <a:t>retrieval top-1 / top-3 accuracy
(40 bilingual gold questions)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783080"/>
            <a:ext cx="356616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78308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1947672"/>
            <a:ext cx="32004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C0392B"/>
                </a:solidFill>
                <a:latin typeface="Cambria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441448"/>
            <a:ext cx="31546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780"/>
                </a:solidFill>
                <a:latin typeface="Calibri"/>
              </a:rPr>
              <a:t>emergency recall on 10 phrasings
(and 1 false alarm on the gold set)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55848"/>
            <a:ext cx="356616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355848"/>
            <a:ext cx="54864" cy="137160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520440"/>
            <a:ext cx="32004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4E5F"/>
                </a:solidFill>
                <a:latin typeface="Cambria"/>
              </a:rPr>
              <a:t>13.3%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014215"/>
            <a:ext cx="31546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780"/>
                </a:solidFill>
                <a:latin typeface="Calibri"/>
              </a:rPr>
              <a:t>forecast MAPE on normal days
(held-out 2025 season)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355848"/>
            <a:ext cx="356616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5968" y="3355848"/>
            <a:ext cx="54864" cy="1371600"/>
          </a:xfrm>
          <a:prstGeom prst="rect">
            <a:avLst/>
          </a:prstGeom>
          <a:solidFill>
            <a:srgbClr val="2A6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520440"/>
            <a:ext cx="32004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A6377"/>
                </a:solidFill>
                <a:latin typeface="Cambria"/>
              </a:rPr>
              <a:t>80.3%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014215"/>
            <a:ext cx="31546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780"/>
                </a:solidFill>
                <a:latin typeface="Calibri"/>
              </a:rPr>
              <a:t>crowd-band accuracy
(Low / Moderate / High / Over capacity)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3296" y="3355848"/>
            <a:ext cx="356616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3296" y="3355848"/>
            <a:ext cx="54864" cy="1371600"/>
          </a:xfrm>
          <a:prstGeom prst="rect">
            <a:avLst/>
          </a:prstGeom>
          <a:solidFill>
            <a:srgbClr val="B55D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7" y="3520440"/>
            <a:ext cx="32004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B55D17"/>
                </a:solidFill>
                <a:latin typeface="Cambria"/>
              </a:rPr>
              <a:t>1.3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4014215"/>
            <a:ext cx="31546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780"/>
                </a:solidFill>
                <a:latin typeface="Calibri"/>
              </a:rPr>
              <a:t>retrieval + intent per question
(on this laptop, CPU only)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93792"/>
            <a:ext cx="11064240" cy="987552"/>
          </a:xfrm>
          <a:prstGeom prst="roundRect">
            <a:avLst>
              <a:gd name="adj" fmla="val 5500"/>
            </a:avLst>
          </a:prstGeom>
          <a:solidFill>
            <a:srgbClr val="E6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321808"/>
            <a:ext cx="10698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30">
                <a:solidFill>
                  <a:srgbClr val="D9731E"/>
                </a:solidFill>
                <a:latin typeface="Calibri"/>
              </a:rPr>
              <a:t>REPRODUCE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57784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4E5F"/>
                </a:solidFill>
                <a:latin typeface="Consolas"/>
              </a:rPr>
              <a:t>pytest -q</a:t>
            </a:r>
            <a:r>
              <a:rPr sz="1100" b="0" i="0">
                <a:solidFill>
                  <a:srgbClr val="6B7780"/>
                </a:solidFill>
                <a:latin typeface="Calibri"/>
              </a:rPr>
              <a:t>   ·   </a:t>
            </a:r>
            <a:r>
              <a:rPr sz="1100" b="1" i="0">
                <a:solidFill>
                  <a:srgbClr val="1F4E5F"/>
                </a:solidFill>
                <a:latin typeface="Consolas"/>
              </a:rPr>
              <a:t>python scripts/evaluate.py</a:t>
            </a:r>
            <a:r>
              <a:rPr sz="1100" b="0" i="0">
                <a:solidFill>
                  <a:srgbClr val="6B7780"/>
                </a:solidFill>
                <a:latin typeface="Calibri"/>
              </a:rPr>
              <a:t>   ·   </a:t>
            </a:r>
            <a:r>
              <a:rPr sz="1100" b="1" i="0">
                <a:solidFill>
                  <a:srgbClr val="1F4E5F"/>
                </a:solidFill>
                <a:latin typeface="Consolas"/>
              </a:rPr>
              <a:t>curl -s /api/ai/status</a:t>
            </a:r>
            <a:r>
              <a:rPr sz="1100" b="0" i="0">
                <a:solidFill>
                  <a:srgbClr val="6B7780"/>
                </a:solidFill>
                <a:latin typeface="Calibri"/>
              </a:rPr>
              <a:t>      The OpenRouter path is also tested against a local OpenAI-compatible stub.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0"/>
                </a:solidFill>
                <a:latin typeface="Calibri"/>
              </a:rPr>
              <a:t>YatraSetu AI · Live 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92240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D9731E"/>
                </a:solidFill>
                <a:latin typeface="Calibri"/>
              </a:rPr>
              <a:t>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09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4E5F"/>
                </a:solidFill>
                <a:latin typeface="Cambria"/>
              </a:rPr>
              <a:t>If the demo fights 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822960" cy="41148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254556"/>
            <a:ext cx="102870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109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780"/>
                </a:solidFill>
                <a:latin typeface="Calibri"/>
              </a:rPr>
              <a:t>Golden rule: never debug live. Switch to the screenshots, keep the narrative, fix it after.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4160520" cy="4343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3749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D9731E"/>
                </a:solidFill>
                <a:latin typeface="Calibri"/>
              </a:rPr>
              <a:t>PRE-FLIGHT CHECKLIST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" y="230428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1F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2A33"/>
                </a:solidFill>
                <a:latin typeface="Calibri"/>
              </a:rPr>
              <a:t>Server answers at :8000 and :8000/admin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" y="280720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1F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889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2A33"/>
                </a:solidFill>
                <a:latin typeface="Calibri"/>
              </a:rPr>
              <a:t>pytest -q says 23 passed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331012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1F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2A33"/>
                </a:solidFill>
                <a:latin typeface="Calibri"/>
              </a:rPr>
              <a:t>AI badge or /api/ai/status checked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" y="381304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1F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947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2A33"/>
                </a:solidFill>
                <a:latin typeface="Calibri"/>
              </a:rPr>
              <a:t>Demo DB seeded (advisory + 5 trips)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" y="431596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1F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97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2A33"/>
                </a:solidFill>
                <a:latin typeface="Calibri"/>
              </a:rPr>
              <a:t>This deck open on the screenshots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" y="481888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1F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8006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2A33"/>
                </a:solidFill>
                <a:latin typeface="Calibri"/>
              </a:rPr>
              <a:t>Laptop volume, brightness, charger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983480" y="1783080"/>
          <a:ext cx="662940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4389120"/>
              </a:tblGrid>
              <a:tr h="632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SYMPTOM</a:t>
                      </a:r>
                    </a:p>
                  </a:txBody>
                  <a:tcPr marL="109728" marT="64008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RECOVERY</a:t>
                      </a:r>
                    </a:p>
                  </a:txBody>
                  <a:tcPr marL="109728" marT="64008">
                    <a:solidFill>
                      <a:srgbClr val="1F4E5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1F4E5F"/>
                          </a:solidFill>
                          <a:latin typeface="Calibri"/>
                        </a:rPr>
                        <a:t>No API key / no internet</a:t>
                      </a:r>
                    </a:p>
                  </a:txBody>
                  <a:tcPr marL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6B7780"/>
                          </a:solidFill>
                          <a:latin typeface="Calibri"/>
                        </a:rPr>
                        <a:t>Offline extractive mode is automatic. Say so; every screen still works.</a:t>
                      </a:r>
                    </a:p>
                  </a:txBody>
                  <a:tcPr marL="109728" marT="54864" marB="54864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1F4E5F"/>
                          </a:solidFill>
                          <a:latin typeface="Calibri"/>
                        </a:rPr>
                        <a:t>401 or 429 from OpenRouter</a:t>
                      </a:r>
                    </a:p>
                  </a:txBody>
                  <a:tcPr marL="109728" marT="54864" marB="54864">
                    <a:solidFill>
                      <a:srgbClr val="E6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6B7780"/>
                          </a:solidFill>
                          <a:latin typeface="Calibri"/>
                        </a:rPr>
                        <a:t>Check key and credits. The chain returns None and the app falls back safely.</a:t>
                      </a:r>
                    </a:p>
                  </a:txBody>
                  <a:tcPr marL="109728" marT="54864" marB="54864">
                    <a:solidFill>
                      <a:srgbClr val="E6EFF1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1F4E5F"/>
                          </a:solidFill>
                          <a:latin typeface="Calibri"/>
                        </a:rPr>
                        <a:t>Stale or empty dashboard</a:t>
                      </a:r>
                    </a:p>
                  </a:txBody>
                  <a:tcPr marL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6B7780"/>
                          </a:solidFill>
                          <a:latin typeface="Calibri"/>
                        </a:rPr>
                        <a:t>rm yatrasetu.db &amp;&amp; python scripts/seed_demo.py, restart uvicorn.</a:t>
                      </a:r>
                    </a:p>
                  </a:txBody>
                  <a:tcPr marL="109728" marT="54864" marB="54864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1F4E5F"/>
                          </a:solidFill>
                          <a:latin typeface="Calibri"/>
                        </a:rPr>
                        <a:t>Port 8000 already in use</a:t>
                      </a:r>
                    </a:p>
                  </a:txBody>
                  <a:tcPr marL="109728" marT="54864" marB="54864">
                    <a:solidFill>
                      <a:srgbClr val="E6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6B7780"/>
                          </a:solidFill>
                          <a:latin typeface="Calibri"/>
                        </a:rPr>
                        <a:t>uvicorn app.main:app --port 8001 (update the URL you show).</a:t>
                      </a:r>
                    </a:p>
                  </a:txBody>
                  <a:tcPr marL="109728" marT="54864" marB="54864">
                    <a:solidFill>
                      <a:srgbClr val="E6EFF1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1F4E5F"/>
                          </a:solidFill>
                          <a:latin typeface="Calibri"/>
                        </a:rPr>
                        <a:t>Browser or projector fails</a:t>
                      </a:r>
                    </a:p>
                  </a:txBody>
                  <a:tcPr marL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6B7780"/>
                          </a:solidFill>
                          <a:latin typeface="Calibri"/>
                        </a:rPr>
                        <a:t>Use docs/screenshots and the screenshot slides in this deck.</a:t>
                      </a:r>
                    </a:p>
                  </a:txBody>
                  <a:tcPr marL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983480" y="57150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780"/>
                </a:solidFill>
                <a:latin typeface="Calibri"/>
              </a:rPr>
              <a:t>If the LLM is misbehaving, unset OPENROUTER_API_KEY and restart — you lose generation, not the product.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0"/>
                </a:solidFill>
                <a:latin typeface="Calibri"/>
              </a:rPr>
              <a:t>YatraSetu AI · Live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92240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D9731E"/>
                </a:solidFill>
                <a:latin typeface="Calibri"/>
              </a:rPr>
              <a:t>LIKELY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09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F4E5F"/>
                </a:solidFill>
                <a:latin typeface="Cambria"/>
              </a:rPr>
              <a:t>The four you will actually 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822960" cy="41148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254556"/>
            <a:ext cx="10287000" cy="10972"/>
          </a:xfrm>
          <a:prstGeom prst="rect">
            <a:avLst/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109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780"/>
                </a:solidFill>
                <a:latin typeface="Calibri"/>
              </a:rPr>
              <a:t>Short answers, honest limits. The report has the detail.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4924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4864" cy="1965960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4E5F"/>
                </a:solidFill>
                <a:latin typeface="Cambria"/>
              </a:rPr>
              <a:t>Is the footfall data real?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60" b="0" i="0">
                <a:solidFill>
                  <a:srgbClr val="6B7780"/>
                </a:solidFill>
                <a:latin typeface="Calibri"/>
              </a:rPr>
              <a:t>The daily history is synthetic, calibrated to published season totals. Capacity and knowledge-base content are sourced. Real daily counts need a data-sharing MoU — the pipeline already accepts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4924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54864" cy="1965960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4E5F"/>
                </a:solidFill>
                <a:latin typeface="Cambria"/>
              </a:rPr>
              <a:t>Can the LLM hallucinate?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231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60" b="0" i="0">
                <a:solidFill>
                  <a:srgbClr val="6B7780"/>
                </a:solidFill>
                <a:latin typeface="Calibri"/>
              </a:rPr>
              <a:t>It only sees retrieved passages, and every number it writes must exist in those passages. Otherwise the answer is discarded. Emergencies bypass the model entirely.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77639"/>
            <a:ext cx="534924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77639"/>
            <a:ext cx="54864" cy="1965960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1605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4E5F"/>
                </a:solidFill>
                <a:latin typeface="Cambria"/>
              </a:rPr>
              <a:t>What about privacy?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61772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60" b="0" i="0">
                <a:solidFill>
                  <a:srgbClr val="6B7780"/>
                </a:solidFill>
                <a:latin typeface="Calibri"/>
              </a:rPr>
              <a:t>Explicit consent, hashed phone numbers, masked display numbers, PII redaction before any model call, and a 90-day retention promise. Aligned with DPDP Act 2023.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977639"/>
            <a:ext cx="534924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77639"/>
            <a:ext cx="54864" cy="1965960"/>
          </a:xfrm>
          <a:prstGeom prst="rect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1605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4E5F"/>
                </a:solidFill>
                <a:latin typeface="Cambria"/>
              </a:rPr>
              <a:t>Why will officials use it?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61772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60" b="0" i="0">
                <a:solidFill>
                  <a:srgbClr val="6B7780"/>
                </a:solidFill>
                <a:latin typeface="Calibri"/>
              </a:rPr>
              <a:t>One publish reaches only affected trips, four-eyes approval is enforced in code, and every action is audited. It saves the control room phone calls.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0"/>
                </a:solidFill>
                <a:latin typeface="Calibri"/>
              </a:rPr>
              <a:t>YatraSetu AI · Live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92240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-1280160" y="4572000"/>
            <a:ext cx="6766560" cy="3291840"/>
          </a:xfrm>
          <a:prstGeom prst="triangle">
            <a:avLst/>
          </a:prstGeom>
          <a:solidFill>
            <a:srgbClr val="2A6377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2743200" y="3931920"/>
            <a:ext cx="7498079" cy="4023360"/>
          </a:xfrm>
          <a:prstGeom prst="triangle">
            <a:avLst/>
          </a:prstGeom>
          <a:solidFill>
            <a:srgbClr val="2A637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8229600" y="4480560"/>
            <a:ext cx="5852160" cy="3108960"/>
          </a:xfrm>
          <a:prstGeom prst="triangle">
            <a:avLst/>
          </a:prstGeom>
          <a:solidFill>
            <a:srgbClr val="2A6377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35440" y="502920"/>
            <a:ext cx="914400" cy="914400"/>
          </a:xfrm>
          <a:prstGeom prst="ellipse">
            <a:avLst/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229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D9731E"/>
                </a:solidFill>
                <a:latin typeface="Calibri"/>
              </a:rPr>
              <a:t>THE PILOT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One district.
One data MoU. One season.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C9DDE3"/>
                </a:solidFill>
                <a:latin typeface="Cambria"/>
              </a:rPr>
              <a:t>That is enough to prove safer, calmer yatras at a fraction of the cost of new infrastructure.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315968"/>
            <a:ext cx="2697480" cy="868680"/>
          </a:xfrm>
          <a:prstGeom prst="roundRect">
            <a:avLst>
              <a:gd name="adj" fmla="val 5500"/>
            </a:avLst>
          </a:prstGeom>
          <a:solidFill>
            <a:srgbClr val="2A6377"/>
          </a:solidFill>
          <a:ln w="12700">
            <a:solidFill>
              <a:srgbClr val="3A7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416552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D9731E"/>
                </a:solidFill>
                <a:latin typeface="Calibri"/>
              </a:rPr>
              <a:t>PILOT DISTRICTS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6634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Rudraprayag + Chamoli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4315968"/>
            <a:ext cx="2697480" cy="868680"/>
          </a:xfrm>
          <a:prstGeom prst="roundRect">
            <a:avLst>
              <a:gd name="adj" fmla="val 5500"/>
            </a:avLst>
          </a:prstGeom>
          <a:solidFill>
            <a:srgbClr val="2A6377"/>
          </a:solidFill>
          <a:ln w="12700">
            <a:solidFill>
              <a:srgbClr val="3A7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3631" y="4416552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D9731E"/>
                </a:solidFill>
                <a:latin typeface="Calibri"/>
              </a:rPr>
              <a:t>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46634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2027 yatra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4315968"/>
            <a:ext cx="2697480" cy="868680"/>
          </a:xfrm>
          <a:prstGeom prst="roundRect">
            <a:avLst>
              <a:gd name="adj" fmla="val 5500"/>
            </a:avLst>
          </a:prstGeom>
          <a:solidFill>
            <a:srgbClr val="2A6377"/>
          </a:solidFill>
          <a:ln w="12700">
            <a:solidFill>
              <a:srgbClr val="3A7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1" y="4416552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D9731E"/>
                </a:solidFill>
                <a:latin typeface="Calibri"/>
              </a:rPr>
              <a:t>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1" y="46634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₹25 lakh, 6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235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Thank you — questions?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0533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9DDE3"/>
                </a:solidFill>
                <a:latin typeface="Calibri"/>
              </a:rPr>
              <a:t>Ayush Singh  ·  ayush@example.com  ·  github.com/AyushSinghRana15/Yatra-Setu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