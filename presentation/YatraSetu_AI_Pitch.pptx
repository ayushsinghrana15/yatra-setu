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d304a9-6e3f-274c-ebd3-ae5a6ad9baf6}">
          <p14:sldIdLst>
            <p14:sldId id="256"/>
          </p14:sldIdLst>
        </p14:section>
        <p14:section name="Problem" id="{f5b5a951-eb90-0e73-072f-a71c5c9dcbb8}">
          <p14:sldIdLst>
            <p14:sldId id="257"/>
            <p14:sldId id="258"/>
            <p14:sldId id="259"/>
          </p14:sldIdLst>
        </p14:section>
        <p14:section name="Solution" id="{8ca6c4ad-c078-bbce-2c6e-3571bd0b9f2f}">
          <p14:sldIdLst>
            <p14:sldId id="260"/>
            <p14:sldId id="261"/>
            <p14:sldId id="262"/>
            <p14:sldId id="263"/>
            <p14:sldId id="264"/>
          </p14:sldIdLst>
        </p14:section>
        <p14:section name="Proof" id="{8d6cd93d-ba72-b7ef-0711-2ebc8b82190d}">
          <p14:sldIdLst>
            <p14:sldId id="265"/>
            <p14:sldId id="266"/>
            <p14:sldId id="267"/>
          </p14:sldIdLst>
        </p14:section>
        <p14:section name="Plan" id="{5764111d-4f42-0645-5a33-65d7fc08c7c2}">
          <p14:sldIdLst>
            <p14:sldId id="268"/>
            <p14:sldId id="269"/>
          </p14:sldIdLst>
        </p14:section>
        <p14:section name="Close" id="{ac867b2a-fb37-e8d5-9516-f2abde020e2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3"/>
                </a:solidFill>
                <a:latin typeface="+mn-lt"/>
              </a:defRPr>
            </a:pPr>
            <a:r>
              <a:rPr sz="1200" b="0" i="0" u="none" strike="noStrike">
                <a:solidFill>
                  <a:srgbClr val="1B2A33"/>
                </a:solidFill>
                <a:latin typeface="+mn-lt"/>
              </a:rPr>
              <a:t>Kedarnath, opening week of May 2027 (forecast)</a:t>
            </a:r>
          </a:p>
        </c:rich>
      </c:tx>
      <c:layout/>
      <c:overlay val="0"/>
    </c:title>
    <c:autoTitleDeleted val="0"/>
    <c:plotArea>
      <c:layout/>
      <c:barChart>
        <c:barDir val="col"/>
        <c:grouping val="clustered"/>
        <c:varyColors val="0"/>
        <c:ser>
          <c:idx val="0"/>
          <c:order val="0"/>
          <c:tx>
            <c:strRef>
              <c:f>Sheet1!$B$1</c:f>
              <c:strCache>
                <c:ptCount val="1"/>
                <c:pt idx="0">
                  <c:v>Forecast pilgrims</c:v>
                </c:pt>
              </c:strCache>
            </c:strRef>
          </c:tx>
          <c:spPr>
            <a:solidFill>
              <a:srgbClr val="D973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Sun 9</c:v>
                  </c:pt>
                  <c:pt idx="1">
                    <c:v>Mon 10</c:v>
                  </c:pt>
                  <c:pt idx="2">
                    <c:v>Tue 11</c:v>
                  </c:pt>
                  <c:pt idx="3">
                    <c:v>Wed 12</c:v>
                  </c:pt>
                  <c:pt idx="4">
                    <c:v>Thu 13</c:v>
                  </c:pt>
                  <c:pt idx="5">
                    <c:v>Fri 14</c:v>
                  </c:pt>
                  <c:pt idx="6">
                    <c:v>Sat 15</c:v>
                  </c:pt>
                </c:lvl>
              </c:multiLvlStrCache>
            </c:multiLvlStrRef>
          </c:cat>
          <c:val>
            <c:numRef>
              <c:f>Sheet1!$B$2:$B$8</c:f>
              <c:numCache>
                <c:formatCode>General</c:formatCode>
                <c:ptCount val="7"/>
                <c:pt idx="0">
                  <c:v>28000</c:v>
                </c:pt>
                <c:pt idx="1">
                  <c:v>24130</c:v>
                </c:pt>
                <c:pt idx="2">
                  <c:v>24350</c:v>
                </c:pt>
                <c:pt idx="3">
                  <c:v>22210</c:v>
                </c:pt>
                <c:pt idx="4">
                  <c:v>20260</c:v>
                </c:pt>
                <c:pt idx="5">
                  <c:v>20580</c:v>
                </c:pt>
                <c:pt idx="6">
                  <c:v>21440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Carrying capacity</c:v>
                </c:pt>
              </c:strCache>
            </c:strRef>
          </c:tx>
          <c:spPr>
            <a:solidFill>
              <a:srgbClr val="C0392B"/>
            </a:solidFill>
            <a:ln w="25400" cap="flat">
              <a:solidFill>
                <a:srgbClr val="C0392B"/>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Sheet1!$A$2:$A$8</c:f>
              <c:multiLvlStrCache>
                <c:ptCount val="7"/>
                <c:lvl>
                  <c:pt idx="0">
                    <c:v>Sun 9</c:v>
                  </c:pt>
                  <c:pt idx="1">
                    <c:v>Mon 10</c:v>
                  </c:pt>
                  <c:pt idx="2">
                    <c:v>Tue 11</c:v>
                  </c:pt>
                  <c:pt idx="3">
                    <c:v>Wed 12</c:v>
                  </c:pt>
                  <c:pt idx="4">
                    <c:v>Thu 13</c:v>
                  </c:pt>
                  <c:pt idx="5">
                    <c:v>Fri 14</c:v>
                  </c:pt>
                  <c:pt idx="6">
                    <c:v>Sat 15</c:v>
                  </c:pt>
                </c:lvl>
              </c:multiLvlStrCache>
            </c:multiLvlStrRef>
          </c:cat>
          <c:val>
            <c:numRef>
              <c:f>Sheet1!$C$2:$C$8</c:f>
              <c:numCache>
                <c:formatCode>General</c:formatCode>
                <c:ptCount val="7"/>
                <c:pt idx="0">
                  <c:v>13111</c:v>
                </c:pt>
                <c:pt idx="1">
                  <c:v>13111</c:v>
                </c:pt>
                <c:pt idx="2">
                  <c:v>13111</c:v>
                </c:pt>
                <c:pt idx="3">
                  <c:v>13111</c:v>
                </c:pt>
                <c:pt idx="4">
                  <c:v>13111</c:v>
                </c:pt>
                <c:pt idx="5">
                  <c:v>13111</c:v>
                </c:pt>
                <c:pt idx="6">
                  <c:v>13111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7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DE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3"/>
                </a:solidFill>
                <a:latin typeface="+mn-lt"/>
              </a:defRPr>
            </a:pPr>
            <a:r>
              <a:rPr sz="1200" b="0" i="0" u="none" strike="noStrike">
                <a:solidFill>
                  <a:srgbClr val="1B2A33"/>
                </a:solidFill>
                <a:latin typeface="+mn-lt"/>
              </a:rPr>
              <a:t>Offline evaluation (%)</a:t>
            </a:r>
          </a:p>
        </c:rich>
      </c:tx>
      <c:layout/>
      <c:overlay val="0"/>
    </c:title>
    <c:autoTitleDeleted val="0"/>
    <c:plotArea>
      <c:layout/>
      <c:barChart>
        <c:barDir val="bar"/>
        <c:grouping val="clustered"/>
        <c:varyColors val="0"/>
        <c:ser>
          <c:idx val="0"/>
          <c:order val="0"/>
          <c:tx>
            <c:strRef>
              <c:f>Sheet1!$B$1</c:f>
              <c:strCache>
                <c:ptCount val="1"/>
                <c:pt idx="0">
                  <c:v>Result (%)</c:v>
                </c:pt>
              </c:strCache>
            </c:strRef>
          </c:tx>
          <c:spPr>
            <a:solidFill>
              <a:srgbClr val="1F4E5F"/>
            </a:solidFill>
            <a:effectLst/>
          </c:spPr>
          <c:invertIfNegative val="0"/>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Answer found (top-3)</c:v>
                  </c:pt>
                  <c:pt idx="1">
                    <c:v>Emergency recall</c:v>
                  </c:pt>
                  <c:pt idx="2">
                    <c:v>Off-topic rejected</c:v>
                  </c:pt>
                  <c:pt idx="3">
                    <c:v>Crowd band correct</c:v>
                  </c:pt>
                  <c:pt idx="4">
                    <c:v>Intent accuracy</c:v>
                  </c:pt>
                </c:lvl>
              </c:multiLvlStrCache>
            </c:multiLvlStrRef>
          </c:cat>
          <c:val>
            <c:numRef>
              <c:f>Sheet1!$B$2:$B$6</c:f>
              <c:numCache>
                <c:formatCode>General</c:formatCode>
                <c:ptCount val="5"/>
                <c:pt idx="0">
                  <c:v>95</c:v>
                </c:pt>
                <c:pt idx="1">
                  <c:v>100</c:v>
                </c:pt>
                <c:pt idx="2">
                  <c:v>80</c:v>
                </c:pt>
                <c:pt idx="3">
                  <c:v>80.3</c:v>
                </c:pt>
                <c:pt idx="4">
                  <c:v>85</c:v>
                </c:pt>
              </c:numCache>
            </c:numRef>
          </c:val>
        </c:ser>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YatraSetu AI: setu means bridge. It bridges official information and millions of pilgrims, in their own language, at the moment they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is a pillar of the state economy, but the Char Dham yatra concentrates huge numbers on narrow roads at high altitude. Peak days exceed safe capacity by more than two times, and health emergencies are frequent.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pain points come from one root cause: travellers lack timely, trustworthy, personalised information in their own language, and authorities lack forecasting and targeted broadcast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persona makes the problem concrete. Every 'today' line maps to a documented problem; every 'with YatraSetu' line is a feature already working in the prototype (Marathi requires Bhashini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The prototype is done; what's needed is data access, two pilot districts, messaging/language platform access and a modest build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697480"/>
            <a:ext cx="8046720" cy="822960"/>
          </a:xfrm>
          <a:prstGeom prst="rect">
            <a:avLst/>
          </a:prstGeom>
          <a:noFill/>
          <a:ln/>
        </p:spPr>
        <p:txBody>
          <a:bodyPr wrap="square" rtlCol="0"/>
          <a:lstStyle>
            <a:lvl1pPr algn="l" indent="0" marL="0">
              <a:buNone/>
              <a:defRPr lang="en-US" sz="1800" dirty="0">
                <a:solidFill>
                  <a:srgbClr val="DCE9ED"/>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accent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800600"/>
            <a:ext cx="2743200" cy="22860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YatraSetu AI</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accent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800600"/>
            <a:ext cx="2743200" cy="22860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YatraSetu AI</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YatraSetu AI</a:t>
            </a:r>
            <a:endParaRPr lang="en-US" sz="4000" dirty="0"/>
          </a:p>
        </p:txBody>
      </p:sp>
      <p:sp>
        <p:nvSpPr>
          <p:cNvPr id="3"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algn="l" indent="0" marL="0">
              <a:buNone/>
            </a:pPr>
            <a:r>
              <a:rPr lang="en-US" sz="1800" dirty="0">
                <a:solidFill>
                  <a:srgbClr val="DCE9ED"/>
                </a:solidFill>
                <a:latin typeface="Calibri" pitchFamily="34" charset="0"/>
                <a:ea typeface="Calibri" pitchFamily="34" charset="-122"/>
                <a:cs typeface="Calibri" pitchFamily="34" charset="-120"/>
              </a:rPr>
              <a:t>A safe-travel bridge for every pilgrim in Uttarakhand</a:t>
            </a:r>
            <a:endParaRPr lang="en-US" sz="1800" dirty="0"/>
          </a:p>
        </p:txBody>
      </p:sp>
      <p:sp>
        <p:nvSpPr>
          <p:cNvPr id="4" name="Text 2"/>
          <p:cNvSpPr txBox="1"/>
          <p:nvPr/>
        </p:nvSpPr>
        <p:spPr>
          <a:xfrm>
            <a:off x="548640" y="4206240"/>
            <a:ext cx="8046720" cy="320040"/>
          </a:xfrm>
          <a:prstGeom prst="rect">
            <a:avLst/>
          </a:prstGeom>
          <a:noFill/>
          <a:ln/>
        </p:spPr>
        <p:txBody>
          <a:bodyPr wrap="square" lIns="0" tIns="0" rIns="0" bIns="0" rtlCol="0" anchor="t"/>
          <a:lstStyle/>
          <a:p>
            <a:pPr indent="0" marL="0">
              <a:buNone/>
            </a:pPr>
            <a:r>
              <a:rPr lang="en-US" sz="1300" dirty="0">
                <a:solidFill>
                  <a:srgbClr val="DCE9ED"/>
                </a:solidFill>
                <a:latin typeface="Calibri" pitchFamily="34" charset="0"/>
                <a:ea typeface="Calibri" pitchFamily="34" charset="-122"/>
                <a:cs typeface="Calibri" pitchFamily="34" charset="-120"/>
              </a:rPr>
              <a:t>Ayush Singh  ·  B.Tech CSE (AI/ML), 4th Year  ·  Roorkee Institute of Technology</a:t>
            </a:r>
            <a:endParaRPr lang="en-US" sz="1300" dirty="0"/>
          </a:p>
        </p:txBody>
      </p:sp>
      <p:sp>
        <p:nvSpPr>
          <p:cNvPr id="5" name="mountain circle"/>
          <p:cNvSpPr/>
          <p:nvPr/>
        </p:nvSpPr>
        <p:spPr>
          <a:xfrm>
            <a:off x="548640" y="548640"/>
            <a:ext cx="685800" cy="685800"/>
          </a:xfrm>
          <a:prstGeom prst="ellipse">
            <a:avLst/>
          </a:prstGeom>
          <a:solidFill>
            <a:schemeClr val="accent2"/>
          </a:solidFill>
          <a:ln w="12700">
            <a:solidFill>
              <a:schemeClr val="accent2"/>
            </a:solidFill>
            <a:prstDash val="solid"/>
          </a:ln>
        </p:spPr>
      </p:sp>
      <p:pic>
        <p:nvPicPr>
          <p:cNvPr id="6" name="mountain glyph" descr="mountain">    </p:cNvPr>
          <p:cNvPicPr>
            <a:picLocks noChangeAspect="1"/>
          </p:cNvPicPr>
          <p:nvPr/>
        </p:nvPicPr>
        <p:blipFill>
          <a:blip r:embed="rId1"/>
          <a:stretch>
            <a:fillRect/>
          </a:stretch>
        </p:blipFill>
        <p:spPr>
          <a:xfrm>
            <a:off x="740664" y="740664"/>
            <a:ext cx="301752" cy="301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Record crowds in fragile mountains</a:t>
            </a:r>
            <a:endParaRPr lang="en-US" sz="3000" dirty="0"/>
          </a:p>
        </p:txBody>
      </p:sp>
      <p:sp>
        <p:nvSpPr>
          <p:cNvPr id="3" name="stat card 1"/>
          <p:cNvSpPr/>
          <p:nvPr/>
        </p:nvSpPr>
        <p:spPr>
          <a:xfrm>
            <a:off x="457200" y="1234440"/>
            <a:ext cx="1920240" cy="2468880"/>
          </a:xfrm>
          <a:prstGeom prst="roundRect">
            <a:avLst>
              <a:gd name="adj" fmla="val 3810"/>
            </a:avLst>
          </a:prstGeom>
          <a:solidFill>
            <a:schemeClr val="bg2"/>
          </a:solidFill>
          <a:ln w="12700">
            <a:solidFill>
              <a:schemeClr val="bg2"/>
            </a:solidFill>
            <a:prstDash val="solid"/>
          </a:ln>
        </p:spPr>
      </p:sp>
      <p:sp>
        <p:nvSpPr>
          <p:cNvPr id="4" name="stat value 1"/>
          <p:cNvSpPr txBox="1"/>
          <p:nvPr/>
        </p:nvSpPr>
        <p:spPr>
          <a:xfrm>
            <a:off x="594360" y="1463040"/>
            <a:ext cx="1691640" cy="82296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6.03 cr</a:t>
            </a:r>
            <a:endParaRPr lang="en-US" sz="3400" dirty="0"/>
          </a:p>
        </p:txBody>
      </p:sp>
      <p:sp>
        <p:nvSpPr>
          <p:cNvPr id="5" name="stat label 1"/>
          <p:cNvSpPr txBox="1"/>
          <p:nvPr/>
        </p:nvSpPr>
        <p:spPr>
          <a:xfrm>
            <a:off x="640080" y="2377440"/>
            <a:ext cx="155448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visitors to Uttarakhand in 2025, highest ever</a:t>
            </a:r>
            <a:endParaRPr lang="en-US" sz="1400" dirty="0"/>
          </a:p>
        </p:txBody>
      </p:sp>
      <p:sp>
        <p:nvSpPr>
          <p:cNvPr id="6" name="stat card 2"/>
          <p:cNvSpPr/>
          <p:nvPr/>
        </p:nvSpPr>
        <p:spPr>
          <a:xfrm>
            <a:off x="2560320" y="1234440"/>
            <a:ext cx="1920240" cy="2468880"/>
          </a:xfrm>
          <a:prstGeom prst="roundRect">
            <a:avLst>
              <a:gd name="adj" fmla="val 3810"/>
            </a:avLst>
          </a:prstGeom>
          <a:solidFill>
            <a:schemeClr val="bg2"/>
          </a:solidFill>
          <a:ln w="12700">
            <a:solidFill>
              <a:schemeClr val="bg2"/>
            </a:solidFill>
            <a:prstDash val="solid"/>
          </a:ln>
        </p:spPr>
      </p:sp>
      <p:sp>
        <p:nvSpPr>
          <p:cNvPr id="7" name="stat value 2"/>
          <p:cNvSpPr txBox="1"/>
          <p:nvPr/>
        </p:nvSpPr>
        <p:spPr>
          <a:xfrm>
            <a:off x="2697480" y="1463040"/>
            <a:ext cx="1691640" cy="82296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51 lakh</a:t>
            </a:r>
            <a:endParaRPr lang="en-US" sz="3400" dirty="0"/>
          </a:p>
        </p:txBody>
      </p:sp>
      <p:sp>
        <p:nvSpPr>
          <p:cNvPr id="8" name="stat label 2"/>
          <p:cNvSpPr txBox="1"/>
          <p:nvPr/>
        </p:nvSpPr>
        <p:spPr>
          <a:xfrm>
            <a:off x="2743200" y="2377440"/>
            <a:ext cx="155448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Char Dham pilgrims in 2025</a:t>
            </a:r>
            <a:endParaRPr lang="en-US" sz="1400" dirty="0"/>
          </a:p>
        </p:txBody>
      </p:sp>
      <p:sp>
        <p:nvSpPr>
          <p:cNvPr id="9" name="stat card 3"/>
          <p:cNvSpPr/>
          <p:nvPr/>
        </p:nvSpPr>
        <p:spPr>
          <a:xfrm>
            <a:off x="4663440" y="1234440"/>
            <a:ext cx="1920240" cy="2468880"/>
          </a:xfrm>
          <a:prstGeom prst="roundRect">
            <a:avLst>
              <a:gd name="adj" fmla="val 3810"/>
            </a:avLst>
          </a:prstGeom>
          <a:solidFill>
            <a:srgbClr val="FBEFE3"/>
          </a:solidFill>
          <a:ln w="12700">
            <a:solidFill>
              <a:srgbClr val="FBEFE3"/>
            </a:solidFill>
            <a:prstDash val="solid"/>
          </a:ln>
        </p:spPr>
      </p:sp>
      <p:sp>
        <p:nvSpPr>
          <p:cNvPr id="10" name="stat value 3"/>
          <p:cNvSpPr txBox="1"/>
          <p:nvPr/>
        </p:nvSpPr>
        <p:spPr>
          <a:xfrm>
            <a:off x="4800600" y="1463040"/>
            <a:ext cx="1691640" cy="82296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2.3×</a:t>
            </a:r>
            <a:endParaRPr lang="en-US" sz="3400" dirty="0"/>
          </a:p>
        </p:txBody>
      </p:sp>
      <p:sp>
        <p:nvSpPr>
          <p:cNvPr id="11" name="stat label 3"/>
          <p:cNvSpPr txBox="1"/>
          <p:nvPr/>
        </p:nvSpPr>
        <p:spPr>
          <a:xfrm>
            <a:off x="4846320" y="2377440"/>
            <a:ext cx="155448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Kedarnath peak day (30,154) vs. its recommended capacity (13,111)</a:t>
            </a:r>
            <a:endParaRPr lang="en-US" sz="1400" dirty="0"/>
          </a:p>
        </p:txBody>
      </p:sp>
      <p:sp>
        <p:nvSpPr>
          <p:cNvPr id="12" name="stat card 4"/>
          <p:cNvSpPr/>
          <p:nvPr/>
        </p:nvSpPr>
        <p:spPr>
          <a:xfrm>
            <a:off x="6766560" y="1234440"/>
            <a:ext cx="1920240" cy="2468880"/>
          </a:xfrm>
          <a:prstGeom prst="roundRect">
            <a:avLst>
              <a:gd name="adj" fmla="val 3810"/>
            </a:avLst>
          </a:prstGeom>
          <a:solidFill>
            <a:schemeClr val="bg2"/>
          </a:solidFill>
          <a:ln w="12700">
            <a:solidFill>
              <a:schemeClr val="bg2"/>
            </a:solidFill>
            <a:prstDash val="solid"/>
          </a:ln>
        </p:spPr>
      </p:sp>
      <p:sp>
        <p:nvSpPr>
          <p:cNvPr id="13" name="stat value 4"/>
          <p:cNvSpPr txBox="1"/>
          <p:nvPr/>
        </p:nvSpPr>
        <p:spPr>
          <a:xfrm>
            <a:off x="6903720" y="1463040"/>
            <a:ext cx="1691640" cy="82296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56</a:t>
            </a:r>
            <a:endParaRPr lang="en-US" sz="3400" dirty="0"/>
          </a:p>
        </p:txBody>
      </p:sp>
      <p:sp>
        <p:nvSpPr>
          <p:cNvPr id="14" name="stat label 4"/>
          <p:cNvSpPr txBox="1"/>
          <p:nvPr/>
        </p:nvSpPr>
        <p:spPr>
          <a:xfrm>
            <a:off x="6949440" y="2377440"/>
            <a:ext cx="155448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pilgrim deaths in the first 28 days of the 2025 yatra</a:t>
            </a:r>
            <a:endParaRPr lang="en-US" sz="1400" dirty="0"/>
          </a:p>
        </p:txBody>
      </p:sp>
      <p:sp>
        <p:nvSpPr>
          <p:cNvPr id="15" name="Text 13"/>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Sources: Uttarakhand Tourism data via ETV Bharat (2026); SDC Foundation via Counterview (2025); ETV Bharat (May 2025, May 2026)</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Pilgrims decide blind, officials warn too late</a:t>
            </a:r>
            <a:endParaRPr lang="en-US" sz="3000" dirty="0"/>
          </a:p>
        </p:txBody>
      </p:sp>
      <p:sp>
        <p:nvSpPr>
          <p:cNvPr id="3" name="pain 1 circle"/>
          <p:cNvSpPr/>
          <p:nvPr/>
        </p:nvSpPr>
        <p:spPr>
          <a:xfrm>
            <a:off x="457200" y="1234440"/>
            <a:ext cx="502920" cy="502920"/>
          </a:xfrm>
          <a:prstGeom prst="ellipse">
            <a:avLst/>
          </a:prstGeom>
          <a:solidFill>
            <a:schemeClr val="accent1"/>
          </a:solidFill>
          <a:ln w="12700">
            <a:solidFill>
              <a:schemeClr val="accent1"/>
            </a:solidFill>
            <a:prstDash val="solid"/>
          </a:ln>
        </p:spPr>
      </p:sp>
      <p:pic>
        <p:nvPicPr>
          <p:cNvPr id="4" name="pain 1 glyph" descr="pain 1">    </p:cNvPr>
          <p:cNvPicPr>
            <a:picLocks noChangeAspect="1"/>
          </p:cNvPicPr>
          <p:nvPr/>
        </p:nvPicPr>
        <p:blipFill>
          <a:blip r:embed="rId1"/>
          <a:stretch>
            <a:fillRect/>
          </a:stretch>
        </p:blipFill>
        <p:spPr>
          <a:xfrm>
            <a:off x="598018" y="1375258"/>
            <a:ext cx="221285" cy="221285"/>
          </a:xfrm>
          <a:prstGeom prst="rect">
            <a:avLst/>
          </a:prstGeom>
        </p:spPr>
      </p:pic>
      <p:sp>
        <p:nvSpPr>
          <p:cNvPr id="5" name="Text 2"/>
          <p:cNvSpPr txBox="1"/>
          <p:nvPr/>
        </p:nvSpPr>
        <p:spPr>
          <a:xfrm>
            <a:off x="1143000" y="1188720"/>
            <a:ext cx="329184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Scattered information</a:t>
            </a:r>
            <a:endParaRPr lang="en-US" sz="1600" dirty="0"/>
          </a:p>
        </p:txBody>
      </p:sp>
      <p:sp>
        <p:nvSpPr>
          <p:cNvPr id="6" name="Text 3"/>
          <p:cNvSpPr txBox="1"/>
          <p:nvPr/>
        </p:nvSpPr>
        <p:spPr>
          <a:xfrm>
            <a:off x="1143000" y="1517904"/>
            <a:ext cx="32918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Registration, weather, roads, medical posts live in different apps, press notes and posts</a:t>
            </a:r>
            <a:endParaRPr lang="en-US" sz="1300" dirty="0"/>
          </a:p>
        </p:txBody>
      </p:sp>
      <p:sp>
        <p:nvSpPr>
          <p:cNvPr id="7" name="pain 2 circle"/>
          <p:cNvSpPr/>
          <p:nvPr/>
        </p:nvSpPr>
        <p:spPr>
          <a:xfrm>
            <a:off x="4754880" y="1234440"/>
            <a:ext cx="502920" cy="502920"/>
          </a:xfrm>
          <a:prstGeom prst="ellipse">
            <a:avLst/>
          </a:prstGeom>
          <a:solidFill>
            <a:schemeClr val="accent1"/>
          </a:solidFill>
          <a:ln w="12700">
            <a:solidFill>
              <a:schemeClr val="accent1"/>
            </a:solidFill>
            <a:prstDash val="solid"/>
          </a:ln>
        </p:spPr>
      </p:sp>
      <p:pic>
        <p:nvPicPr>
          <p:cNvPr id="8" name="pain 2 glyph" descr="pain 2">    </p:cNvPr>
          <p:cNvPicPr>
            <a:picLocks noChangeAspect="1"/>
          </p:cNvPicPr>
          <p:nvPr/>
        </p:nvPicPr>
        <p:blipFill>
          <a:blip r:embed="rId2"/>
          <a:stretch>
            <a:fillRect/>
          </a:stretch>
        </p:blipFill>
        <p:spPr>
          <a:xfrm>
            <a:off x="4895698" y="1375258"/>
            <a:ext cx="221285" cy="221285"/>
          </a:xfrm>
          <a:prstGeom prst="rect">
            <a:avLst/>
          </a:prstGeom>
        </p:spPr>
      </p:pic>
      <p:sp>
        <p:nvSpPr>
          <p:cNvPr id="9" name="Text 5"/>
          <p:cNvSpPr txBox="1"/>
          <p:nvPr/>
        </p:nvSpPr>
        <p:spPr>
          <a:xfrm>
            <a:off x="5440680" y="1188720"/>
            <a:ext cx="329184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Unpredictable crowds</a:t>
            </a:r>
            <a:endParaRPr lang="en-US" sz="1600" dirty="0"/>
          </a:p>
        </p:txBody>
      </p:sp>
      <p:sp>
        <p:nvSpPr>
          <p:cNvPr id="10" name="Text 6"/>
          <p:cNvSpPr txBox="1"/>
          <p:nvPr/>
        </p:nvSpPr>
        <p:spPr>
          <a:xfrm>
            <a:off x="5440680" y="1517904"/>
            <a:ext cx="32918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 way to see in advance which days will be over capacity</a:t>
            </a:r>
            <a:endParaRPr lang="en-US" sz="1300" dirty="0"/>
          </a:p>
        </p:txBody>
      </p:sp>
      <p:sp>
        <p:nvSpPr>
          <p:cNvPr id="11" name="pain 3 circle"/>
          <p:cNvSpPr/>
          <p:nvPr/>
        </p:nvSpPr>
        <p:spPr>
          <a:xfrm>
            <a:off x="457200" y="2377440"/>
            <a:ext cx="502920" cy="502920"/>
          </a:xfrm>
          <a:prstGeom prst="ellipse">
            <a:avLst/>
          </a:prstGeom>
          <a:solidFill>
            <a:schemeClr val="accent2"/>
          </a:solidFill>
          <a:ln w="12700">
            <a:solidFill>
              <a:schemeClr val="accent2"/>
            </a:solidFill>
            <a:prstDash val="solid"/>
          </a:ln>
        </p:spPr>
      </p:sp>
      <p:pic>
        <p:nvPicPr>
          <p:cNvPr id="12" name="pain 3 glyph" descr="pain 3">    </p:cNvPr>
          <p:cNvPicPr>
            <a:picLocks noChangeAspect="1"/>
          </p:cNvPicPr>
          <p:nvPr/>
        </p:nvPicPr>
        <p:blipFill>
          <a:blip r:embed="rId3"/>
          <a:stretch>
            <a:fillRect/>
          </a:stretch>
        </p:blipFill>
        <p:spPr>
          <a:xfrm>
            <a:off x="598018" y="2518258"/>
            <a:ext cx="221285" cy="221285"/>
          </a:xfrm>
          <a:prstGeom prst="rect">
            <a:avLst/>
          </a:prstGeom>
        </p:spPr>
      </p:pic>
      <p:sp>
        <p:nvSpPr>
          <p:cNvPr id="13" name="Text 8"/>
          <p:cNvSpPr txBox="1"/>
          <p:nvPr/>
        </p:nvSpPr>
        <p:spPr>
          <a:xfrm>
            <a:off x="1143000" y="2331720"/>
            <a:ext cx="329184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Generic warnings</a:t>
            </a:r>
            <a:endParaRPr lang="en-US" sz="1600" dirty="0"/>
          </a:p>
        </p:txBody>
      </p:sp>
      <p:sp>
        <p:nvSpPr>
          <p:cNvPr id="14" name="Text 9"/>
          <p:cNvSpPr txBox="1"/>
          <p:nvPr/>
        </p:nvSpPr>
        <p:spPr>
          <a:xfrm>
            <a:off x="1143000" y="2660904"/>
            <a:ext cx="32918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District-level alerts, not "your road tomorrow"; 2,500 tourists stranded in Mussoorie (Sept 2025)</a:t>
            </a:r>
            <a:endParaRPr lang="en-US" sz="1300" dirty="0"/>
          </a:p>
        </p:txBody>
      </p:sp>
      <p:sp>
        <p:nvSpPr>
          <p:cNvPr id="15" name="pain 4 circle"/>
          <p:cNvSpPr/>
          <p:nvPr/>
        </p:nvSpPr>
        <p:spPr>
          <a:xfrm>
            <a:off x="4754880" y="2377440"/>
            <a:ext cx="502920" cy="502920"/>
          </a:xfrm>
          <a:prstGeom prst="ellipse">
            <a:avLst/>
          </a:prstGeom>
          <a:solidFill>
            <a:schemeClr val="accent1"/>
          </a:solidFill>
          <a:ln w="12700">
            <a:solidFill>
              <a:schemeClr val="accent1"/>
            </a:solidFill>
            <a:prstDash val="solid"/>
          </a:ln>
        </p:spPr>
      </p:sp>
      <p:pic>
        <p:nvPicPr>
          <p:cNvPr id="16" name="pain 4 glyph" descr="pain 4">    </p:cNvPr>
          <p:cNvPicPr>
            <a:picLocks noChangeAspect="1"/>
          </p:cNvPicPr>
          <p:nvPr/>
        </p:nvPicPr>
        <p:blipFill>
          <a:blip r:embed="rId4"/>
          <a:stretch>
            <a:fillRect/>
          </a:stretch>
        </p:blipFill>
        <p:spPr>
          <a:xfrm>
            <a:off x="4895698" y="2518258"/>
            <a:ext cx="221285" cy="221285"/>
          </a:xfrm>
          <a:prstGeom prst="rect">
            <a:avLst/>
          </a:prstGeom>
        </p:spPr>
      </p:pic>
      <p:sp>
        <p:nvSpPr>
          <p:cNvPr id="17" name="Text 11"/>
          <p:cNvSpPr txBox="1"/>
          <p:nvPr/>
        </p:nvSpPr>
        <p:spPr>
          <a:xfrm>
            <a:off x="5440680" y="2331720"/>
            <a:ext cx="329184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Unprepared at altitude</a:t>
            </a:r>
            <a:endParaRPr lang="en-US" sz="1600" dirty="0"/>
          </a:p>
        </p:txBody>
      </p:sp>
      <p:sp>
        <p:nvSpPr>
          <p:cNvPr id="18" name="Text 12"/>
          <p:cNvSpPr txBox="1"/>
          <p:nvPr/>
        </p:nvSpPr>
        <p:spPr>
          <a:xfrm>
            <a:off x="5440680" y="2660904"/>
            <a:ext cx="32918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Most deaths are cardiac, mostly pilgrims over 50</a:t>
            </a:r>
            <a:endParaRPr lang="en-US" sz="1300" dirty="0"/>
          </a:p>
        </p:txBody>
      </p:sp>
      <p:sp>
        <p:nvSpPr>
          <p:cNvPr id="19" name="pain 5 circle"/>
          <p:cNvSpPr/>
          <p:nvPr/>
        </p:nvSpPr>
        <p:spPr>
          <a:xfrm>
            <a:off x="2606040" y="3520440"/>
            <a:ext cx="502920" cy="502920"/>
          </a:xfrm>
          <a:prstGeom prst="ellipse">
            <a:avLst/>
          </a:prstGeom>
          <a:solidFill>
            <a:schemeClr val="accent1"/>
          </a:solidFill>
          <a:ln w="12700">
            <a:solidFill>
              <a:schemeClr val="accent1"/>
            </a:solidFill>
            <a:prstDash val="solid"/>
          </a:ln>
        </p:spPr>
      </p:sp>
      <p:pic>
        <p:nvPicPr>
          <p:cNvPr id="20" name="pain 5 glyph" descr="pain 5">    </p:cNvPr>
          <p:cNvPicPr>
            <a:picLocks noChangeAspect="1"/>
          </p:cNvPicPr>
          <p:nvPr/>
        </p:nvPicPr>
        <p:blipFill>
          <a:blip r:embed="rId5"/>
          <a:stretch>
            <a:fillRect/>
          </a:stretch>
        </p:blipFill>
        <p:spPr>
          <a:xfrm>
            <a:off x="2746858" y="3661258"/>
            <a:ext cx="221285" cy="221285"/>
          </a:xfrm>
          <a:prstGeom prst="rect">
            <a:avLst/>
          </a:prstGeom>
        </p:spPr>
      </p:pic>
      <p:sp>
        <p:nvSpPr>
          <p:cNvPr id="21" name="Text 14"/>
          <p:cNvSpPr txBox="1"/>
          <p:nvPr/>
        </p:nvSpPr>
        <p:spPr>
          <a:xfrm>
            <a:off x="3291840" y="3474720"/>
            <a:ext cx="329184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Language and network gaps</a:t>
            </a:r>
            <a:endParaRPr lang="en-US" sz="1600" dirty="0"/>
          </a:p>
        </p:txBody>
      </p:sp>
      <p:sp>
        <p:nvSpPr>
          <p:cNvPr id="22" name="Text 15"/>
          <p:cNvSpPr txBox="1"/>
          <p:nvPr/>
        </p:nvSpPr>
        <p:spPr>
          <a:xfrm>
            <a:off x="3291840" y="3803904"/>
            <a:ext cx="32918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Pilgrims from every state; English-first apps; patchy coverage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Meet Sunita, 62, from Pune</a:t>
            </a:r>
            <a:endParaRPr lang="en-US" sz="3000" dirty="0"/>
          </a:p>
        </p:txBody>
      </p:sp>
      <p:sp>
        <p:nvSpPr>
          <p:cNvPr id="3" name="today card"/>
          <p:cNvSpPr/>
          <p:nvPr/>
        </p:nvSpPr>
        <p:spPr>
          <a:xfrm>
            <a:off x="457200" y="1188720"/>
            <a:ext cx="3977640" cy="3291840"/>
          </a:xfrm>
          <a:prstGeom prst="roundRect">
            <a:avLst>
              <a:gd name="adj" fmla="val 2222"/>
            </a:avLst>
          </a:prstGeom>
          <a:solidFill>
            <a:schemeClr val="bg1"/>
          </a:solidFill>
          <a:ln w="12700">
            <a:solidFill>
              <a:schemeClr val="bg1"/>
            </a:solidFill>
            <a:prstDash val="solid"/>
          </a:ln>
        </p:spPr>
      </p:sp>
      <p:sp>
        <p:nvSpPr>
          <p:cNvPr id="4" name="with card"/>
          <p:cNvSpPr/>
          <p:nvPr/>
        </p:nvSpPr>
        <p:spPr>
          <a:xfrm>
            <a:off x="4709160" y="1188720"/>
            <a:ext cx="3977640" cy="3291840"/>
          </a:xfrm>
          <a:prstGeom prst="roundRect">
            <a:avLst>
              <a:gd name="adj" fmla="val 2222"/>
            </a:avLst>
          </a:prstGeom>
          <a:solidFill>
            <a:schemeClr val="bg1"/>
          </a:solidFill>
          <a:ln w="12700">
            <a:solidFill>
              <a:schemeClr val="bg1"/>
            </a:solidFill>
            <a:prstDash val="solid"/>
          </a:ln>
        </p:spPr>
      </p:sp>
      <p:sp>
        <p:nvSpPr>
          <p:cNvPr id="5" name="Text 3"/>
          <p:cNvSpPr txBox="1"/>
          <p:nvPr/>
        </p:nvSpPr>
        <p:spPr>
          <a:xfrm>
            <a:off x="685800" y="1325880"/>
            <a:ext cx="356616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Today</a:t>
            </a:r>
            <a:endParaRPr lang="en-US" sz="2000" dirty="0"/>
          </a:p>
        </p:txBody>
      </p:sp>
      <p:sp>
        <p:nvSpPr>
          <p:cNvPr id="6" name="Text 4"/>
          <p:cNvSpPr txBox="1"/>
          <p:nvPr/>
        </p:nvSpPr>
        <p:spPr>
          <a:xfrm>
            <a:off x="4937760" y="1325880"/>
            <a:ext cx="3566160" cy="36576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With YatraSetu</a:t>
            </a:r>
            <a:endParaRPr lang="en-US" sz="2000" dirty="0"/>
          </a:p>
        </p:txBody>
      </p:sp>
      <p:sp>
        <p:nvSpPr>
          <p:cNvPr id="7" name="Text 5"/>
          <p:cNvSpPr txBox="1"/>
          <p:nvPr/>
        </p:nvSpPr>
        <p:spPr>
          <a:xfrm>
            <a:off x="685800" y="182880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Picks the opening weekend: 2× over capacity</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Learns of a landslide only at the debris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Skips health screening; no idea where help is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Searches in English on five different sites</a:t>
            </a:r>
            <a:endParaRPr lang="en-US" sz="1400" dirty="0"/>
          </a:p>
        </p:txBody>
      </p:sp>
      <p:sp>
        <p:nvSpPr>
          <p:cNvPr id="8" name="Text 6"/>
          <p:cNvSpPr txBox="1"/>
          <p:nvPr/>
        </p:nvSpPr>
        <p:spPr>
          <a:xfrm>
            <a:off x="4937760" y="182880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Sees the week's crowd outlook and picks a lighter day</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Gets a WhatsApp alert in Marathi or Hindi with a safe halt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Gets a readiness check and the screening point at Sonprayag</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Asks one assistant in her language, with sources</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One assistant, five safety services</a:t>
            </a:r>
            <a:endParaRPr lang="en-US" sz="3000" dirty="0"/>
          </a:p>
        </p:txBody>
      </p:sp>
      <p:sp>
        <p:nvSpPr>
          <p:cNvPr id="3" name="feature card 1"/>
          <p:cNvSpPr/>
          <p:nvPr/>
        </p:nvSpPr>
        <p:spPr>
          <a:xfrm>
            <a:off x="457200" y="1234440"/>
            <a:ext cx="1517904" cy="3017520"/>
          </a:xfrm>
          <a:prstGeom prst="roundRect">
            <a:avLst>
              <a:gd name="adj" fmla="val 4819"/>
            </a:avLst>
          </a:prstGeom>
          <a:solidFill>
            <a:schemeClr val="bg2"/>
          </a:solidFill>
          <a:ln w="12700">
            <a:solidFill>
              <a:schemeClr val="bg2"/>
            </a:solidFill>
            <a:prstDash val="solid"/>
          </a:ln>
        </p:spPr>
      </p:sp>
      <p:sp>
        <p:nvSpPr>
          <p:cNvPr id="4" name="feature 1 circle"/>
          <p:cNvSpPr/>
          <p:nvPr/>
        </p:nvSpPr>
        <p:spPr>
          <a:xfrm>
            <a:off x="941832" y="1463040"/>
            <a:ext cx="548640" cy="548640"/>
          </a:xfrm>
          <a:prstGeom prst="ellipse">
            <a:avLst/>
          </a:prstGeom>
          <a:solidFill>
            <a:schemeClr val="accent1"/>
          </a:solidFill>
          <a:ln w="12700">
            <a:solidFill>
              <a:schemeClr val="accent1"/>
            </a:solidFill>
            <a:prstDash val="solid"/>
          </a:ln>
        </p:spPr>
      </p:sp>
      <p:pic>
        <p:nvPicPr>
          <p:cNvPr id="5" name="feature 1 glyph" descr="feature 1">    </p:cNvPr>
          <p:cNvPicPr>
            <a:picLocks noChangeAspect="1"/>
          </p:cNvPicPr>
          <p:nvPr/>
        </p:nvPicPr>
        <p:blipFill>
          <a:blip r:embed="rId1"/>
          <a:stretch>
            <a:fillRect/>
          </a:stretch>
        </p:blipFill>
        <p:spPr>
          <a:xfrm>
            <a:off x="1095451" y="1616659"/>
            <a:ext cx="241402" cy="241402"/>
          </a:xfrm>
          <a:prstGeom prst="rect">
            <a:avLst/>
          </a:prstGeom>
        </p:spPr>
      </p:pic>
      <p:sp>
        <p:nvSpPr>
          <p:cNvPr id="6" name="Text 3"/>
          <p:cNvSpPr txBox="1"/>
          <p:nvPr/>
        </p:nvSpPr>
        <p:spPr>
          <a:xfrm>
            <a:off x="566928" y="2194560"/>
            <a:ext cx="1298448" cy="5486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Ask in your language</a:t>
            </a:r>
            <a:endParaRPr lang="en-US" sz="1500" dirty="0"/>
          </a:p>
        </p:txBody>
      </p:sp>
      <p:sp>
        <p:nvSpPr>
          <p:cNvPr id="7" name="Text 4"/>
          <p:cNvSpPr txBox="1"/>
          <p:nvPr/>
        </p:nvSpPr>
        <p:spPr>
          <a:xfrm>
            <a:off x="566928" y="2788920"/>
            <a:ext cx="1298448" cy="1371600"/>
          </a:xfrm>
          <a:prstGeom prst="rect">
            <a:avLst/>
          </a:prstGeom>
          <a:noFill/>
          <a:ln/>
        </p:spPr>
        <p:txBody>
          <a:bodyPr wrap="square" lIns="0" tIns="0" rIns="0" bIns="0" rtlCol="0" anchor="t"/>
          <a:lstStyle/>
          <a:p>
            <a:pPr algn="ctr" indent="0" marL="0">
              <a:buNone/>
            </a:pPr>
            <a:r>
              <a:rPr lang="en-US" sz="1250" dirty="0">
                <a:solidFill>
                  <a:schemeClr val="tx1"/>
                </a:solidFill>
                <a:latin typeface="Calibri" pitchFamily="34" charset="0"/>
                <a:ea typeface="Calibri" pitchFamily="34" charset="-122"/>
                <a:cs typeface="Calibri" pitchFamily="34" charset="-120"/>
              </a:rPr>
              <a:t>Grounded answers with source and date; emergencies bypass AI</a:t>
            </a:r>
            <a:endParaRPr lang="en-US" sz="1250" dirty="0"/>
          </a:p>
        </p:txBody>
      </p:sp>
      <p:sp>
        <p:nvSpPr>
          <p:cNvPr id="8" name="feature card 2"/>
          <p:cNvSpPr/>
          <p:nvPr/>
        </p:nvSpPr>
        <p:spPr>
          <a:xfrm>
            <a:off x="2139696" y="1234440"/>
            <a:ext cx="1517904" cy="3017520"/>
          </a:xfrm>
          <a:prstGeom prst="roundRect">
            <a:avLst>
              <a:gd name="adj" fmla="val 4819"/>
            </a:avLst>
          </a:prstGeom>
          <a:solidFill>
            <a:schemeClr val="bg2"/>
          </a:solidFill>
          <a:ln w="12700">
            <a:solidFill>
              <a:schemeClr val="bg2"/>
            </a:solidFill>
            <a:prstDash val="solid"/>
          </a:ln>
        </p:spPr>
      </p:sp>
      <p:sp>
        <p:nvSpPr>
          <p:cNvPr id="9" name="feature 2 circle"/>
          <p:cNvSpPr/>
          <p:nvPr/>
        </p:nvSpPr>
        <p:spPr>
          <a:xfrm>
            <a:off x="2624328" y="1463040"/>
            <a:ext cx="548640" cy="548640"/>
          </a:xfrm>
          <a:prstGeom prst="ellipse">
            <a:avLst/>
          </a:prstGeom>
          <a:solidFill>
            <a:schemeClr val="accent1"/>
          </a:solidFill>
          <a:ln w="12700">
            <a:solidFill>
              <a:schemeClr val="accent1"/>
            </a:solidFill>
            <a:prstDash val="solid"/>
          </a:ln>
        </p:spPr>
      </p:sp>
      <p:pic>
        <p:nvPicPr>
          <p:cNvPr id="10" name="feature 2 glyph" descr="feature 2">    </p:cNvPr>
          <p:cNvPicPr>
            <a:picLocks noChangeAspect="1"/>
          </p:cNvPicPr>
          <p:nvPr/>
        </p:nvPicPr>
        <p:blipFill>
          <a:blip r:embed="rId2"/>
          <a:stretch>
            <a:fillRect/>
          </a:stretch>
        </p:blipFill>
        <p:spPr>
          <a:xfrm>
            <a:off x="2777947" y="1616659"/>
            <a:ext cx="241402" cy="241402"/>
          </a:xfrm>
          <a:prstGeom prst="rect">
            <a:avLst/>
          </a:prstGeom>
        </p:spPr>
      </p:pic>
      <p:sp>
        <p:nvSpPr>
          <p:cNvPr id="11" name="Text 7"/>
          <p:cNvSpPr txBox="1"/>
          <p:nvPr/>
        </p:nvSpPr>
        <p:spPr>
          <a:xfrm>
            <a:off x="2249424" y="2194560"/>
            <a:ext cx="1298448" cy="5486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Crowd forecast</a:t>
            </a:r>
            <a:endParaRPr lang="en-US" sz="1500" dirty="0"/>
          </a:p>
        </p:txBody>
      </p:sp>
      <p:sp>
        <p:nvSpPr>
          <p:cNvPr id="12" name="Text 8"/>
          <p:cNvSpPr txBox="1"/>
          <p:nvPr/>
        </p:nvSpPr>
        <p:spPr>
          <a:xfrm>
            <a:off x="2249424" y="2788920"/>
            <a:ext cx="1298448" cy="1371600"/>
          </a:xfrm>
          <a:prstGeom prst="rect">
            <a:avLst/>
          </a:prstGeom>
          <a:noFill/>
          <a:ln/>
        </p:spPr>
        <p:txBody>
          <a:bodyPr wrap="square" lIns="0" tIns="0" rIns="0" bIns="0" rtlCol="0" anchor="t"/>
          <a:lstStyle/>
          <a:p>
            <a:pPr algn="ctr" indent="0" marL="0">
              <a:buNone/>
            </a:pPr>
            <a:r>
              <a:rPr lang="en-US" sz="1250" dirty="0">
                <a:solidFill>
                  <a:schemeClr val="tx1"/>
                </a:solidFill>
                <a:latin typeface="Calibri" pitchFamily="34" charset="0"/>
                <a:ea typeface="Calibri" pitchFamily="34" charset="-122"/>
                <a:cs typeface="Calibri" pitchFamily="34" charset="-120"/>
              </a:rPr>
              <a:t>7-day outlook per shrine against carrying capacity</a:t>
            </a:r>
            <a:endParaRPr lang="en-US" sz="1250" dirty="0"/>
          </a:p>
        </p:txBody>
      </p:sp>
      <p:sp>
        <p:nvSpPr>
          <p:cNvPr id="13" name="feature card 3"/>
          <p:cNvSpPr/>
          <p:nvPr/>
        </p:nvSpPr>
        <p:spPr>
          <a:xfrm>
            <a:off x="3822192" y="1234440"/>
            <a:ext cx="1517904" cy="3017520"/>
          </a:xfrm>
          <a:prstGeom prst="roundRect">
            <a:avLst>
              <a:gd name="adj" fmla="val 4819"/>
            </a:avLst>
          </a:prstGeom>
          <a:solidFill>
            <a:schemeClr val="bg2"/>
          </a:solidFill>
          <a:ln w="12700">
            <a:solidFill>
              <a:schemeClr val="bg2"/>
            </a:solidFill>
            <a:prstDash val="solid"/>
          </a:ln>
        </p:spPr>
      </p:sp>
      <p:sp>
        <p:nvSpPr>
          <p:cNvPr id="14" name="feature 3 circle"/>
          <p:cNvSpPr/>
          <p:nvPr/>
        </p:nvSpPr>
        <p:spPr>
          <a:xfrm>
            <a:off x="4306824" y="1463040"/>
            <a:ext cx="548640" cy="548640"/>
          </a:xfrm>
          <a:prstGeom prst="ellipse">
            <a:avLst/>
          </a:prstGeom>
          <a:solidFill>
            <a:schemeClr val="accent1"/>
          </a:solidFill>
          <a:ln w="12700">
            <a:solidFill>
              <a:schemeClr val="accent1"/>
            </a:solidFill>
            <a:prstDash val="solid"/>
          </a:ln>
        </p:spPr>
      </p:sp>
      <p:pic>
        <p:nvPicPr>
          <p:cNvPr id="15" name="feature 3 glyph" descr="feature 3">    </p:cNvPr>
          <p:cNvPicPr>
            <a:picLocks noChangeAspect="1"/>
          </p:cNvPicPr>
          <p:nvPr/>
        </p:nvPicPr>
        <p:blipFill>
          <a:blip r:embed="rId3"/>
          <a:stretch>
            <a:fillRect/>
          </a:stretch>
        </p:blipFill>
        <p:spPr>
          <a:xfrm>
            <a:off x="4460443" y="1616659"/>
            <a:ext cx="241402" cy="241402"/>
          </a:xfrm>
          <a:prstGeom prst="rect">
            <a:avLst/>
          </a:prstGeom>
        </p:spPr>
      </p:pic>
      <p:sp>
        <p:nvSpPr>
          <p:cNvPr id="16" name="Text 11"/>
          <p:cNvSpPr txBox="1"/>
          <p:nvPr/>
        </p:nvSpPr>
        <p:spPr>
          <a:xfrm>
            <a:off x="3931920" y="2194560"/>
            <a:ext cx="1298448" cy="5486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Route-risk alerts</a:t>
            </a:r>
            <a:endParaRPr lang="en-US" sz="1500" dirty="0"/>
          </a:p>
        </p:txBody>
      </p:sp>
      <p:sp>
        <p:nvSpPr>
          <p:cNvPr id="17" name="Text 12"/>
          <p:cNvSpPr txBox="1"/>
          <p:nvPr/>
        </p:nvSpPr>
        <p:spPr>
          <a:xfrm>
            <a:off x="3931920" y="2788920"/>
            <a:ext cx="1298448" cy="1371600"/>
          </a:xfrm>
          <a:prstGeom prst="rect">
            <a:avLst/>
          </a:prstGeom>
          <a:noFill/>
          <a:ln/>
        </p:spPr>
        <p:txBody>
          <a:bodyPr wrap="square" lIns="0" tIns="0" rIns="0" bIns="0" rtlCol="0" anchor="t"/>
          <a:lstStyle/>
          <a:p>
            <a:pPr algn="ctr" indent="0" marL="0">
              <a:buNone/>
            </a:pPr>
            <a:r>
              <a:rPr lang="en-US" sz="1250" dirty="0">
                <a:solidFill>
                  <a:schemeClr val="tx1"/>
                </a:solidFill>
                <a:latin typeface="Calibri" pitchFamily="34" charset="0"/>
                <a:ea typeface="Calibri" pitchFamily="34" charset="-122"/>
                <a:cs typeface="Calibri" pitchFamily="34" charset="-120"/>
              </a:rPr>
              <a:t>Your road, your dates: WhatsApp alert + safe halt</a:t>
            </a:r>
            <a:endParaRPr lang="en-US" sz="1250" dirty="0"/>
          </a:p>
        </p:txBody>
      </p:sp>
      <p:sp>
        <p:nvSpPr>
          <p:cNvPr id="18" name="feature card 4"/>
          <p:cNvSpPr/>
          <p:nvPr/>
        </p:nvSpPr>
        <p:spPr>
          <a:xfrm>
            <a:off x="5504688" y="1234440"/>
            <a:ext cx="1517904" cy="3017520"/>
          </a:xfrm>
          <a:prstGeom prst="roundRect">
            <a:avLst>
              <a:gd name="adj" fmla="val 4819"/>
            </a:avLst>
          </a:prstGeom>
          <a:solidFill>
            <a:schemeClr val="bg2"/>
          </a:solidFill>
          <a:ln w="12700">
            <a:solidFill>
              <a:schemeClr val="bg2"/>
            </a:solidFill>
            <a:prstDash val="solid"/>
          </a:ln>
        </p:spPr>
      </p:sp>
      <p:sp>
        <p:nvSpPr>
          <p:cNvPr id="19" name="feature 4 circle"/>
          <p:cNvSpPr/>
          <p:nvPr/>
        </p:nvSpPr>
        <p:spPr>
          <a:xfrm>
            <a:off x="5989320" y="1463040"/>
            <a:ext cx="548640" cy="548640"/>
          </a:xfrm>
          <a:prstGeom prst="ellipse">
            <a:avLst/>
          </a:prstGeom>
          <a:solidFill>
            <a:schemeClr val="accent1"/>
          </a:solidFill>
          <a:ln w="12700">
            <a:solidFill>
              <a:schemeClr val="accent1"/>
            </a:solidFill>
            <a:prstDash val="solid"/>
          </a:ln>
        </p:spPr>
      </p:sp>
      <p:pic>
        <p:nvPicPr>
          <p:cNvPr id="20" name="feature 4 glyph" descr="feature 4">    </p:cNvPr>
          <p:cNvPicPr>
            <a:picLocks noChangeAspect="1"/>
          </p:cNvPicPr>
          <p:nvPr/>
        </p:nvPicPr>
        <p:blipFill>
          <a:blip r:embed="rId4"/>
          <a:stretch>
            <a:fillRect/>
          </a:stretch>
        </p:blipFill>
        <p:spPr>
          <a:xfrm>
            <a:off x="6142939" y="1616659"/>
            <a:ext cx="241402" cy="241402"/>
          </a:xfrm>
          <a:prstGeom prst="rect">
            <a:avLst/>
          </a:prstGeom>
        </p:spPr>
      </p:pic>
      <p:sp>
        <p:nvSpPr>
          <p:cNvPr id="21" name="Text 15"/>
          <p:cNvSpPr txBox="1"/>
          <p:nvPr/>
        </p:nvSpPr>
        <p:spPr>
          <a:xfrm>
            <a:off x="5614416" y="2194560"/>
            <a:ext cx="1298448" cy="5486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Health readiness</a:t>
            </a:r>
            <a:endParaRPr lang="en-US" sz="1500" dirty="0"/>
          </a:p>
        </p:txBody>
      </p:sp>
      <p:sp>
        <p:nvSpPr>
          <p:cNvPr id="22" name="Text 16"/>
          <p:cNvSpPr txBox="1"/>
          <p:nvPr/>
        </p:nvSpPr>
        <p:spPr>
          <a:xfrm>
            <a:off x="5614416" y="2788920"/>
            <a:ext cx="1298448" cy="1371600"/>
          </a:xfrm>
          <a:prstGeom prst="rect">
            <a:avLst/>
          </a:prstGeom>
          <a:noFill/>
          <a:ln/>
        </p:spPr>
        <p:txBody>
          <a:bodyPr wrap="square" lIns="0" tIns="0" rIns="0" bIns="0" rtlCol="0" anchor="t"/>
          <a:lstStyle/>
          <a:p>
            <a:pPr algn="ctr" indent="0" marL="0">
              <a:buNone/>
            </a:pPr>
            <a:r>
              <a:rPr lang="en-US" sz="1250" dirty="0">
                <a:solidFill>
                  <a:schemeClr val="tx1"/>
                </a:solidFill>
                <a:latin typeface="Calibri" pitchFamily="34" charset="0"/>
                <a:ea typeface="Calibri" pitchFamily="34" charset="-122"/>
                <a:cs typeface="Calibri" pitchFamily="34" charset="-120"/>
              </a:rPr>
              <a:t>Self-check, screening reminder, medical posts</a:t>
            </a:r>
            <a:endParaRPr lang="en-US" sz="1250" dirty="0"/>
          </a:p>
        </p:txBody>
      </p:sp>
      <p:sp>
        <p:nvSpPr>
          <p:cNvPr id="23" name="feature card 5"/>
          <p:cNvSpPr/>
          <p:nvPr/>
        </p:nvSpPr>
        <p:spPr>
          <a:xfrm>
            <a:off x="7187184" y="1234440"/>
            <a:ext cx="1517904" cy="3017520"/>
          </a:xfrm>
          <a:prstGeom prst="roundRect">
            <a:avLst>
              <a:gd name="adj" fmla="val 4819"/>
            </a:avLst>
          </a:prstGeom>
          <a:solidFill>
            <a:schemeClr val="bg2"/>
          </a:solidFill>
          <a:ln w="12700">
            <a:solidFill>
              <a:schemeClr val="bg2"/>
            </a:solidFill>
            <a:prstDash val="solid"/>
          </a:ln>
        </p:spPr>
      </p:sp>
      <p:sp>
        <p:nvSpPr>
          <p:cNvPr id="24" name="feature 5 circle"/>
          <p:cNvSpPr/>
          <p:nvPr/>
        </p:nvSpPr>
        <p:spPr>
          <a:xfrm>
            <a:off x="7671816" y="1463040"/>
            <a:ext cx="548640" cy="548640"/>
          </a:xfrm>
          <a:prstGeom prst="ellipse">
            <a:avLst/>
          </a:prstGeom>
          <a:solidFill>
            <a:schemeClr val="accent2"/>
          </a:solidFill>
          <a:ln w="12700">
            <a:solidFill>
              <a:schemeClr val="accent2"/>
            </a:solidFill>
            <a:prstDash val="solid"/>
          </a:ln>
        </p:spPr>
      </p:sp>
      <p:pic>
        <p:nvPicPr>
          <p:cNvPr id="25" name="feature 5 glyph" descr="feature 5">    </p:cNvPr>
          <p:cNvPicPr>
            <a:picLocks noChangeAspect="1"/>
          </p:cNvPicPr>
          <p:nvPr/>
        </p:nvPicPr>
        <p:blipFill>
          <a:blip r:embed="rId5"/>
          <a:stretch>
            <a:fillRect/>
          </a:stretch>
        </p:blipFill>
        <p:spPr>
          <a:xfrm>
            <a:off x="7825435" y="1616659"/>
            <a:ext cx="241402" cy="241402"/>
          </a:xfrm>
          <a:prstGeom prst="rect">
            <a:avLst/>
          </a:prstGeom>
        </p:spPr>
      </p:pic>
      <p:sp>
        <p:nvSpPr>
          <p:cNvPr id="26" name="Text 19"/>
          <p:cNvSpPr txBox="1"/>
          <p:nvPr/>
        </p:nvSpPr>
        <p:spPr>
          <a:xfrm>
            <a:off x="7296912" y="2194560"/>
            <a:ext cx="1298448" cy="5486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Officials' dashboard</a:t>
            </a:r>
            <a:endParaRPr lang="en-US" sz="1500" dirty="0"/>
          </a:p>
        </p:txBody>
      </p:sp>
      <p:sp>
        <p:nvSpPr>
          <p:cNvPr id="27" name="Text 20"/>
          <p:cNvSpPr txBox="1"/>
          <p:nvPr/>
        </p:nvSpPr>
        <p:spPr>
          <a:xfrm>
            <a:off x="7296912" y="2788920"/>
            <a:ext cx="1298448" cy="1371600"/>
          </a:xfrm>
          <a:prstGeom prst="rect">
            <a:avLst/>
          </a:prstGeom>
          <a:noFill/>
          <a:ln/>
        </p:spPr>
        <p:txBody>
          <a:bodyPr wrap="square" lIns="0" tIns="0" rIns="0" bIns="0" rtlCol="0" anchor="t"/>
          <a:lstStyle/>
          <a:p>
            <a:pPr algn="ctr" indent="0" marL="0">
              <a:buNone/>
            </a:pPr>
            <a:r>
              <a:rPr lang="en-US" sz="1250" dirty="0">
                <a:solidFill>
                  <a:schemeClr val="tx1"/>
                </a:solidFill>
                <a:latin typeface="Calibri" pitchFamily="34" charset="0"/>
                <a:ea typeface="Calibri" pitchFamily="34" charset="-122"/>
                <a:cs typeface="Calibri" pitchFamily="34" charset="-120"/>
              </a:rPr>
              <a:t>Publish once, reach every affected traveller</a:t>
            </a:r>
            <a:endParaRPr lang="en-US" sz="1250" dirty="0"/>
          </a:p>
        </p:txBody>
      </p:sp>
      <p:sp>
        <p:nvSpPr>
          <p:cNvPr id="28" name="Text 21"/>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300" i="1" dirty="0">
                <a:solidFill>
                  <a:schemeClr val="accent2"/>
                </a:solidFill>
                <a:latin typeface="Calibri" pitchFamily="34" charset="0"/>
                <a:ea typeface="Calibri" pitchFamily="34" charset="-122"/>
                <a:cs typeface="Calibri" pitchFamily="34" charset="-120"/>
              </a:rPr>
              <a:t>Works on WhatsApp, a lightweight web app and SMS: no new app to install</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Trustworthy answers, in Hindi or English</a:t>
            </a:r>
            <a:endParaRPr lang="en-US" sz="3000" dirty="0"/>
          </a:p>
        </p:txBody>
      </p:sp>
      <p:sp>
        <p:nvSpPr>
          <p:cNvPr id="3" name="assistant screenshot frame"/>
          <p:cNvSpPr/>
          <p:nvPr/>
        </p:nvSpPr>
        <p:spPr>
          <a:xfrm>
            <a:off x="512064" y="1106424"/>
            <a:ext cx="3182112" cy="3639312"/>
          </a:xfrm>
          <a:prstGeom prst="roundRect">
            <a:avLst>
              <a:gd name="adj" fmla="val 1724"/>
            </a:avLst>
          </a:prstGeom>
          <a:solidFill>
            <a:schemeClr val="bg1"/>
          </a:solidFill>
          <a:ln w="9525">
            <a:solidFill>
              <a:srgbClr val="D6DEE2"/>
            </a:solidFill>
            <a:prstDash val="solid"/>
          </a:ln>
          <a:effectLst>
            <a:outerShdw sx="100000" sy="100000" kx="0" ky="0" algn="bl" rotWithShape="0" blurRad="76200" dist="25400" dir="5400000">
              <a:srgbClr val="000000">
                <a:alpha val="18000"/>
              </a:srgbClr>
            </a:outerShdw>
          </a:effectLst>
        </p:spPr>
      </p:sp>
      <p:pic>
        <p:nvPicPr>
          <p:cNvPr id="4" name="assistant screenshot" descr="assistant screenshot">    </p:cNvPr>
          <p:cNvPicPr>
            <a:picLocks noChangeAspect="1"/>
          </p:cNvPicPr>
          <p:nvPr/>
        </p:nvPicPr>
        <p:blipFill>
          <a:blip r:embed="rId1"/>
          <a:stretch>
            <a:fillRect/>
          </a:stretch>
        </p:blipFill>
        <p:spPr>
          <a:xfrm>
            <a:off x="548640" y="1143000"/>
            <a:ext cx="3108960" cy="3566160"/>
          </a:xfrm>
          <a:prstGeom prst="rect">
            <a:avLst/>
          </a:prstGeom>
        </p:spPr>
      </p:pic>
      <p:sp>
        <p:nvSpPr>
          <p:cNvPr id="5" name="point dot 1"/>
          <p:cNvSpPr/>
          <p:nvPr/>
        </p:nvSpPr>
        <p:spPr>
          <a:xfrm>
            <a:off x="4114800" y="1234440"/>
            <a:ext cx="347472" cy="347472"/>
          </a:xfrm>
          <a:prstGeom prst="ellipse">
            <a:avLst/>
          </a:prstGeom>
          <a:solidFill>
            <a:schemeClr val="accent2"/>
          </a:solidFill>
          <a:ln w="12700">
            <a:solidFill>
              <a:schemeClr val="accent2"/>
            </a:solidFill>
            <a:prstDash val="solid"/>
          </a:ln>
        </p:spPr>
      </p:sp>
      <p:sp>
        <p:nvSpPr>
          <p:cNvPr id="6" name="Text 3"/>
          <p:cNvSpPr txBox="1"/>
          <p:nvPr/>
        </p:nvSpPr>
        <p:spPr>
          <a:xfrm>
            <a:off x="4114800" y="123444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4617720" y="1188720"/>
            <a:ext cx="4023360" cy="292608"/>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Grounded</a:t>
            </a:r>
            <a:endParaRPr lang="en-US" sz="1600" dirty="0"/>
          </a:p>
        </p:txBody>
      </p:sp>
      <p:sp>
        <p:nvSpPr>
          <p:cNvPr id="8" name="Text 5"/>
          <p:cNvSpPr txBox="1"/>
          <p:nvPr/>
        </p:nvSpPr>
        <p:spPr>
          <a:xfrm>
            <a:off x="4617720" y="1490472"/>
            <a:ext cx="402336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answer cites an official source and its last-updated date</a:t>
            </a:r>
            <a:endParaRPr lang="en-US" sz="1300" dirty="0"/>
          </a:p>
        </p:txBody>
      </p:sp>
      <p:sp>
        <p:nvSpPr>
          <p:cNvPr id="9" name="point dot 2"/>
          <p:cNvSpPr/>
          <p:nvPr/>
        </p:nvSpPr>
        <p:spPr>
          <a:xfrm>
            <a:off x="4114800" y="2103120"/>
            <a:ext cx="347472" cy="347472"/>
          </a:xfrm>
          <a:prstGeom prst="ellipse">
            <a:avLst/>
          </a:prstGeom>
          <a:solidFill>
            <a:schemeClr val="accent2"/>
          </a:solidFill>
          <a:ln w="12700">
            <a:solidFill>
              <a:schemeClr val="accent2"/>
            </a:solidFill>
            <a:prstDash val="solid"/>
          </a:ln>
        </p:spPr>
      </p:sp>
      <p:sp>
        <p:nvSpPr>
          <p:cNvPr id="10" name="Text 7"/>
          <p:cNvSpPr txBox="1"/>
          <p:nvPr/>
        </p:nvSpPr>
        <p:spPr>
          <a:xfrm>
            <a:off x="4114800" y="21031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4617720" y="2057400"/>
            <a:ext cx="4023360" cy="292608"/>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Live</a:t>
            </a:r>
            <a:endParaRPr lang="en-US" sz="1600" dirty="0"/>
          </a:p>
        </p:txBody>
      </p:sp>
      <p:sp>
        <p:nvSpPr>
          <p:cNvPr id="12" name="Text 9"/>
          <p:cNvSpPr txBox="1"/>
          <p:nvPr/>
        </p:nvSpPr>
        <p:spPr>
          <a:xfrm>
            <a:off x="4617720" y="2359152"/>
            <a:ext cx="402336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Crowd and route questions pull the forecast and risk services in real time</a:t>
            </a:r>
            <a:endParaRPr lang="en-US" sz="1300" dirty="0"/>
          </a:p>
        </p:txBody>
      </p:sp>
      <p:sp>
        <p:nvSpPr>
          <p:cNvPr id="13" name="point dot 3"/>
          <p:cNvSpPr/>
          <p:nvPr/>
        </p:nvSpPr>
        <p:spPr>
          <a:xfrm>
            <a:off x="4114800" y="2971800"/>
            <a:ext cx="347472" cy="347472"/>
          </a:xfrm>
          <a:prstGeom prst="ellipse">
            <a:avLst/>
          </a:prstGeom>
          <a:solidFill>
            <a:schemeClr val="accent2"/>
          </a:solidFill>
          <a:ln w="12700">
            <a:solidFill>
              <a:schemeClr val="accent2"/>
            </a:solidFill>
            <a:prstDash val="solid"/>
          </a:ln>
        </p:spPr>
      </p:sp>
      <p:sp>
        <p:nvSpPr>
          <p:cNvPr id="14" name="Text 11"/>
          <p:cNvSpPr txBox="1"/>
          <p:nvPr/>
        </p:nvSpPr>
        <p:spPr>
          <a:xfrm>
            <a:off x="4114800" y="29718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4617720" y="2926080"/>
            <a:ext cx="4023360" cy="292608"/>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Safe</a:t>
            </a:r>
            <a:endParaRPr lang="en-US" sz="1600" dirty="0"/>
          </a:p>
        </p:txBody>
      </p:sp>
      <p:sp>
        <p:nvSpPr>
          <p:cNvPr id="16" name="Text 13"/>
          <p:cNvSpPr txBox="1"/>
          <p:nvPr/>
        </p:nvSpPr>
        <p:spPr>
          <a:xfrm>
            <a:off x="4617720" y="3227832"/>
            <a:ext cx="402336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"Chest pain" or "stuck" triggers 112/108 instructions instantly, no AI model involved</a:t>
            </a:r>
            <a:endParaRPr lang="en-US" sz="1300" dirty="0"/>
          </a:p>
        </p:txBody>
      </p:sp>
      <p:sp>
        <p:nvSpPr>
          <p:cNvPr id="17" name="point dot 4"/>
          <p:cNvSpPr/>
          <p:nvPr/>
        </p:nvSpPr>
        <p:spPr>
          <a:xfrm>
            <a:off x="4114800" y="3840480"/>
            <a:ext cx="347472" cy="347472"/>
          </a:xfrm>
          <a:prstGeom prst="ellipse">
            <a:avLst/>
          </a:prstGeom>
          <a:solidFill>
            <a:schemeClr val="accent2"/>
          </a:solidFill>
          <a:ln w="12700">
            <a:solidFill>
              <a:schemeClr val="accent2"/>
            </a:solidFill>
            <a:prstDash val="solid"/>
          </a:ln>
        </p:spPr>
      </p:sp>
      <p:sp>
        <p:nvSpPr>
          <p:cNvPr id="18" name="Text 15"/>
          <p:cNvSpPr txBox="1"/>
          <p:nvPr/>
        </p:nvSpPr>
        <p:spPr>
          <a:xfrm>
            <a:off x="4114800" y="38404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4617720" y="3794760"/>
            <a:ext cx="4023360" cy="292608"/>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Honest</a:t>
            </a:r>
            <a:endParaRPr lang="en-US" sz="1600" dirty="0"/>
          </a:p>
        </p:txBody>
      </p:sp>
      <p:sp>
        <p:nvSpPr>
          <p:cNvPr id="20" name="Text 17"/>
          <p:cNvSpPr txBox="1"/>
          <p:nvPr/>
        </p:nvSpPr>
        <p:spPr>
          <a:xfrm>
            <a:off x="4617720" y="4096512"/>
            <a:ext cx="402336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Off-topic or unknown questions get a safe fallback instead of a guess</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Spread the crowd before it forms</a:t>
            </a:r>
            <a:endParaRPr lang="en-US" sz="3000" dirty="0"/>
          </a:p>
        </p:txBody>
      </p:sp>
      <p:graphicFrame>
        <p:nvGraphicFramePr>
          <p:cNvPr id="3" name="forecast chart" descr="Forecast pilgrims per day vs carrying capacity"/>
          <p:cNvGraphicFramePr/>
          <p:nvPr/>
        </p:nvGraphicFramePr>
        <p:xfrm>
          <a:off x="457200" y="114300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forecast insight card"/>
          <p:cNvSpPr/>
          <p:nvPr/>
        </p:nvSpPr>
        <p:spPr>
          <a:xfrm>
            <a:off x="5852160" y="1188720"/>
            <a:ext cx="2834640" cy="3337560"/>
          </a:xfrm>
          <a:prstGeom prst="roundRect">
            <a:avLst>
              <a:gd name="adj" fmla="val 2581"/>
            </a:avLst>
          </a:prstGeom>
          <a:solidFill>
            <a:schemeClr val="bg2"/>
          </a:solidFill>
          <a:ln w="12700">
            <a:solidFill>
              <a:schemeClr val="bg2"/>
            </a:solidFill>
            <a:prstDash val="solid"/>
          </a:ln>
        </p:spPr>
      </p:sp>
      <p:sp>
        <p:nvSpPr>
          <p:cNvPr id="5" name="Text 2"/>
          <p:cNvSpPr txBox="1"/>
          <p:nvPr/>
        </p:nvSpPr>
        <p:spPr>
          <a:xfrm>
            <a:off x="6080760" y="1371600"/>
            <a:ext cx="23774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13.3%</a:t>
            </a:r>
            <a:endParaRPr lang="en-US" sz="4000" dirty="0"/>
          </a:p>
        </p:txBody>
      </p:sp>
      <p:sp>
        <p:nvSpPr>
          <p:cNvPr id="6" name="Text 3"/>
          <p:cNvSpPr txBox="1"/>
          <p:nvPr/>
        </p:nvSpPr>
        <p:spPr>
          <a:xfrm>
            <a:off x="6080760" y="2057400"/>
            <a:ext cx="237744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forecast error (MAPE) on a held-out season</a:t>
            </a:r>
            <a:endParaRPr lang="en-US" sz="1300" dirty="0"/>
          </a:p>
        </p:txBody>
      </p:sp>
      <p:sp>
        <p:nvSpPr>
          <p:cNvPr id="7" name="Text 4"/>
          <p:cNvSpPr txBox="1"/>
          <p:nvPr/>
        </p:nvSpPr>
        <p:spPr>
          <a:xfrm>
            <a:off x="6080760" y="2697480"/>
            <a:ext cx="2377440" cy="12801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day is shown as Low, Moderate, High or Over capacity, with lighter dates and an alternative shrine suggested.</a:t>
            </a:r>
            <a:endParaRPr lang="en-US" sz="1300" dirty="0"/>
          </a:p>
        </p:txBody>
      </p:sp>
      <p:sp>
        <p:nvSpPr>
          <p:cNvPr id="8" name="Text 5"/>
          <p:cNvSpPr txBox="1"/>
          <p:nvPr/>
        </p:nvSpPr>
        <p:spPr>
          <a:xfrm>
            <a:off x="6080760" y="3977640"/>
            <a:ext cx="2377440" cy="45720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Gradient-boosted model; trained on a synthetic history calibrated to published totals</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Warn the right travellers, on the right road</a:t>
            </a:r>
            <a:endParaRPr lang="en-US" sz="3000" dirty="0"/>
          </a:p>
        </p:txBody>
      </p:sp>
      <p:sp>
        <p:nvSpPr>
          <p:cNvPr id="3" name="route risk screenshot frame"/>
          <p:cNvSpPr/>
          <p:nvPr/>
        </p:nvSpPr>
        <p:spPr>
          <a:xfrm>
            <a:off x="512064" y="1152144"/>
            <a:ext cx="8119872" cy="2404872"/>
          </a:xfrm>
          <a:prstGeom prst="roundRect">
            <a:avLst>
              <a:gd name="adj" fmla="val 2281"/>
            </a:avLst>
          </a:prstGeom>
          <a:solidFill>
            <a:schemeClr val="bg1"/>
          </a:solidFill>
          <a:ln w="9525">
            <a:solidFill>
              <a:srgbClr val="D6DEE2"/>
            </a:solidFill>
            <a:prstDash val="solid"/>
          </a:ln>
          <a:effectLst>
            <a:outerShdw sx="100000" sy="100000" kx="0" ky="0" algn="bl" rotWithShape="0" blurRad="76200" dist="25400" dir="5400000">
              <a:srgbClr val="000000">
                <a:alpha val="18000"/>
              </a:srgbClr>
            </a:outerShdw>
          </a:effectLst>
        </p:spPr>
      </p:sp>
      <p:pic>
        <p:nvPicPr>
          <p:cNvPr id="4" name="route risk screenshot" descr="route risk screenshot">    </p:cNvPr>
          <p:cNvPicPr>
            <a:picLocks noChangeAspect="1"/>
          </p:cNvPicPr>
          <p:nvPr/>
        </p:nvPicPr>
        <p:blipFill>
          <a:blip r:embed="rId1"/>
          <a:stretch>
            <a:fillRect/>
          </a:stretch>
        </p:blipFill>
        <p:spPr>
          <a:xfrm>
            <a:off x="548640" y="1188720"/>
            <a:ext cx="8046720" cy="2331720"/>
          </a:xfrm>
          <a:prstGeom prst="rect">
            <a:avLst/>
          </a:prstGeom>
        </p:spPr>
      </p:pic>
      <p:sp>
        <p:nvSpPr>
          <p:cNvPr id="5" name="flow 1 circle"/>
          <p:cNvSpPr/>
          <p:nvPr/>
        </p:nvSpPr>
        <p:spPr>
          <a:xfrm>
            <a:off x="548640" y="3840480"/>
            <a:ext cx="457200" cy="457200"/>
          </a:xfrm>
          <a:prstGeom prst="ellipse">
            <a:avLst/>
          </a:prstGeom>
          <a:solidFill>
            <a:schemeClr val="accent1"/>
          </a:solidFill>
          <a:ln w="12700">
            <a:solidFill>
              <a:schemeClr val="accent1"/>
            </a:solidFill>
            <a:prstDash val="solid"/>
          </a:ln>
        </p:spPr>
      </p:sp>
      <p:pic>
        <p:nvPicPr>
          <p:cNvPr id="6" name="flow 1 glyph" descr="flow 1">    </p:cNvPr>
          <p:cNvPicPr>
            <a:picLocks noChangeAspect="1"/>
          </p:cNvPicPr>
          <p:nvPr/>
        </p:nvPicPr>
        <p:blipFill>
          <a:blip r:embed="rId2"/>
          <a:stretch>
            <a:fillRect/>
          </a:stretch>
        </p:blipFill>
        <p:spPr>
          <a:xfrm>
            <a:off x="676656" y="3968496"/>
            <a:ext cx="201168" cy="201168"/>
          </a:xfrm>
          <a:prstGeom prst="rect">
            <a:avLst/>
          </a:prstGeom>
        </p:spPr>
      </p:pic>
      <p:sp>
        <p:nvSpPr>
          <p:cNvPr id="7" name="Text 3"/>
          <p:cNvSpPr txBox="1"/>
          <p:nvPr/>
        </p:nvSpPr>
        <p:spPr>
          <a:xfrm>
            <a:off x="1097280" y="3840480"/>
            <a:ext cx="1371600" cy="5029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IMD alert or road closure</a:t>
            </a:r>
            <a:endParaRPr lang="en-US" sz="1250" dirty="0"/>
          </a:p>
        </p:txBody>
      </p:sp>
      <p:sp>
        <p:nvSpPr>
          <p:cNvPr id="8" name="flow arrow 1"/>
          <p:cNvSpPr/>
          <p:nvPr/>
        </p:nvSpPr>
        <p:spPr>
          <a:xfrm>
            <a:off x="2377440" y="3977640"/>
            <a:ext cx="182880" cy="182880"/>
          </a:xfrm>
          <a:prstGeom prst="rightArrow">
            <a:avLst/>
          </a:prstGeom>
          <a:solidFill>
            <a:schemeClr val="accent6"/>
          </a:solidFill>
          <a:ln w="12700">
            <a:solidFill>
              <a:schemeClr val="accent6"/>
            </a:solidFill>
            <a:prstDash val="solid"/>
          </a:ln>
        </p:spPr>
      </p:sp>
      <p:sp>
        <p:nvSpPr>
          <p:cNvPr id="9" name="flow 2 circle"/>
          <p:cNvSpPr/>
          <p:nvPr/>
        </p:nvSpPr>
        <p:spPr>
          <a:xfrm>
            <a:off x="2606040" y="3840480"/>
            <a:ext cx="457200" cy="457200"/>
          </a:xfrm>
          <a:prstGeom prst="ellipse">
            <a:avLst/>
          </a:prstGeom>
          <a:solidFill>
            <a:schemeClr val="accent1"/>
          </a:solidFill>
          <a:ln w="12700">
            <a:solidFill>
              <a:schemeClr val="accent1"/>
            </a:solidFill>
            <a:prstDash val="solid"/>
          </a:ln>
        </p:spPr>
      </p:sp>
      <p:pic>
        <p:nvPicPr>
          <p:cNvPr id="10" name="flow 2 glyph" descr="flow 2">    </p:cNvPr>
          <p:cNvPicPr>
            <a:picLocks noChangeAspect="1"/>
          </p:cNvPicPr>
          <p:nvPr/>
        </p:nvPicPr>
        <p:blipFill>
          <a:blip r:embed="rId3"/>
          <a:stretch>
            <a:fillRect/>
          </a:stretch>
        </p:blipFill>
        <p:spPr>
          <a:xfrm>
            <a:off x="2734056" y="3968496"/>
            <a:ext cx="201168" cy="201168"/>
          </a:xfrm>
          <a:prstGeom prst="rect">
            <a:avLst/>
          </a:prstGeom>
        </p:spPr>
      </p:pic>
      <p:sp>
        <p:nvSpPr>
          <p:cNvPr id="11" name="Text 6"/>
          <p:cNvSpPr txBox="1"/>
          <p:nvPr/>
        </p:nvSpPr>
        <p:spPr>
          <a:xfrm>
            <a:off x="3154680" y="3840480"/>
            <a:ext cx="1371600" cy="5029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Segment risk scored 0–100</a:t>
            </a:r>
            <a:endParaRPr lang="en-US" sz="1250" dirty="0"/>
          </a:p>
        </p:txBody>
      </p:sp>
      <p:sp>
        <p:nvSpPr>
          <p:cNvPr id="12" name="flow arrow 2"/>
          <p:cNvSpPr/>
          <p:nvPr/>
        </p:nvSpPr>
        <p:spPr>
          <a:xfrm>
            <a:off x="4434840" y="3977640"/>
            <a:ext cx="182880" cy="182880"/>
          </a:xfrm>
          <a:prstGeom prst="rightArrow">
            <a:avLst/>
          </a:prstGeom>
          <a:solidFill>
            <a:schemeClr val="accent6"/>
          </a:solidFill>
          <a:ln w="12700">
            <a:solidFill>
              <a:schemeClr val="accent6"/>
            </a:solidFill>
            <a:prstDash val="solid"/>
          </a:ln>
        </p:spPr>
      </p:sp>
      <p:sp>
        <p:nvSpPr>
          <p:cNvPr id="13" name="flow 3 circle"/>
          <p:cNvSpPr/>
          <p:nvPr/>
        </p:nvSpPr>
        <p:spPr>
          <a:xfrm>
            <a:off x="4663440" y="3840480"/>
            <a:ext cx="457200" cy="457200"/>
          </a:xfrm>
          <a:prstGeom prst="ellipse">
            <a:avLst/>
          </a:prstGeom>
          <a:solidFill>
            <a:schemeClr val="accent1"/>
          </a:solidFill>
          <a:ln w="12700">
            <a:solidFill>
              <a:schemeClr val="accent1"/>
            </a:solidFill>
            <a:prstDash val="solid"/>
          </a:ln>
        </p:spPr>
      </p:sp>
      <p:pic>
        <p:nvPicPr>
          <p:cNvPr id="14" name="flow 3 glyph" descr="flow 3">    </p:cNvPr>
          <p:cNvPicPr>
            <a:picLocks noChangeAspect="1"/>
          </p:cNvPicPr>
          <p:nvPr/>
        </p:nvPicPr>
        <p:blipFill>
          <a:blip r:embed="rId4"/>
          <a:stretch>
            <a:fillRect/>
          </a:stretch>
        </p:blipFill>
        <p:spPr>
          <a:xfrm>
            <a:off x="4791456" y="3968496"/>
            <a:ext cx="201168" cy="201168"/>
          </a:xfrm>
          <a:prstGeom prst="rect">
            <a:avLst/>
          </a:prstGeom>
        </p:spPr>
      </p:pic>
      <p:sp>
        <p:nvSpPr>
          <p:cNvPr id="15" name="Text 9"/>
          <p:cNvSpPr txBox="1"/>
          <p:nvPr/>
        </p:nvSpPr>
        <p:spPr>
          <a:xfrm>
            <a:off x="5212080" y="3840480"/>
            <a:ext cx="1371600" cy="5029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Official approves</a:t>
            </a:r>
            <a:endParaRPr lang="en-US" sz="1250" dirty="0"/>
          </a:p>
        </p:txBody>
      </p:sp>
      <p:sp>
        <p:nvSpPr>
          <p:cNvPr id="16" name="flow arrow 3"/>
          <p:cNvSpPr/>
          <p:nvPr/>
        </p:nvSpPr>
        <p:spPr>
          <a:xfrm>
            <a:off x="6492240" y="3977640"/>
            <a:ext cx="182880" cy="182880"/>
          </a:xfrm>
          <a:prstGeom prst="rightArrow">
            <a:avLst/>
          </a:prstGeom>
          <a:solidFill>
            <a:schemeClr val="accent6"/>
          </a:solidFill>
          <a:ln w="12700">
            <a:solidFill>
              <a:schemeClr val="accent6"/>
            </a:solidFill>
            <a:prstDash val="solid"/>
          </a:ln>
        </p:spPr>
      </p:sp>
      <p:sp>
        <p:nvSpPr>
          <p:cNvPr id="17" name="flow 4 circle"/>
          <p:cNvSpPr/>
          <p:nvPr/>
        </p:nvSpPr>
        <p:spPr>
          <a:xfrm>
            <a:off x="6720840" y="3840480"/>
            <a:ext cx="457200" cy="457200"/>
          </a:xfrm>
          <a:prstGeom prst="ellipse">
            <a:avLst/>
          </a:prstGeom>
          <a:solidFill>
            <a:schemeClr val="accent3"/>
          </a:solidFill>
          <a:ln w="12700">
            <a:solidFill>
              <a:schemeClr val="accent3"/>
            </a:solidFill>
            <a:prstDash val="solid"/>
          </a:ln>
        </p:spPr>
      </p:sp>
      <p:pic>
        <p:nvPicPr>
          <p:cNvPr id="18" name="flow 4 glyph" descr="flow 4">    </p:cNvPr>
          <p:cNvPicPr>
            <a:picLocks noChangeAspect="1"/>
          </p:cNvPicPr>
          <p:nvPr/>
        </p:nvPicPr>
        <p:blipFill>
          <a:blip r:embed="rId5"/>
          <a:stretch>
            <a:fillRect/>
          </a:stretch>
        </p:blipFill>
        <p:spPr>
          <a:xfrm>
            <a:off x="6848856" y="3968496"/>
            <a:ext cx="201168" cy="201168"/>
          </a:xfrm>
          <a:prstGeom prst="rect">
            <a:avLst/>
          </a:prstGeom>
        </p:spPr>
      </p:pic>
      <p:sp>
        <p:nvSpPr>
          <p:cNvPr id="19" name="Text 12"/>
          <p:cNvSpPr txBox="1"/>
          <p:nvPr/>
        </p:nvSpPr>
        <p:spPr>
          <a:xfrm>
            <a:off x="7269480" y="3840480"/>
            <a:ext cx="1371600" cy="5029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WhatsApp / SMS + safe halt</a:t>
            </a:r>
            <a:endParaRPr lang="en-US" sz="12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A control room for district officials</a:t>
            </a:r>
            <a:endParaRPr lang="en-US" sz="3000" dirty="0"/>
          </a:p>
        </p:txBody>
      </p:sp>
      <p:sp>
        <p:nvSpPr>
          <p:cNvPr id="3" name="dashboard screenshot frame"/>
          <p:cNvSpPr/>
          <p:nvPr/>
        </p:nvSpPr>
        <p:spPr>
          <a:xfrm>
            <a:off x="512064" y="1152144"/>
            <a:ext cx="5193792" cy="2331720"/>
          </a:xfrm>
          <a:prstGeom prst="roundRect">
            <a:avLst>
              <a:gd name="adj" fmla="val 2353"/>
            </a:avLst>
          </a:prstGeom>
          <a:solidFill>
            <a:schemeClr val="bg1"/>
          </a:solidFill>
          <a:ln w="9525">
            <a:solidFill>
              <a:srgbClr val="D6DEE2"/>
            </a:solidFill>
            <a:prstDash val="solid"/>
          </a:ln>
          <a:effectLst>
            <a:outerShdw sx="100000" sy="100000" kx="0" ky="0" algn="bl" rotWithShape="0" blurRad="76200" dist="25400" dir="5400000">
              <a:srgbClr val="000000">
                <a:alpha val="18000"/>
              </a:srgbClr>
            </a:outerShdw>
          </a:effectLst>
        </p:spPr>
      </p:sp>
      <p:pic>
        <p:nvPicPr>
          <p:cNvPr id="4" name="dashboard screenshot" descr="dashboard screenshot">    </p:cNvPr>
          <p:cNvPicPr>
            <a:picLocks noChangeAspect="1"/>
          </p:cNvPicPr>
          <p:nvPr/>
        </p:nvPicPr>
        <p:blipFill>
          <a:blip r:embed="rId1"/>
          <a:stretch>
            <a:fillRect/>
          </a:stretch>
        </p:blipFill>
        <p:spPr>
          <a:xfrm>
            <a:off x="548640" y="1188720"/>
            <a:ext cx="5120640" cy="2258568"/>
          </a:xfrm>
          <a:prstGeom prst="rect">
            <a:avLst/>
          </a:prstGeom>
        </p:spPr>
      </p:pic>
      <p:sp>
        <p:nvSpPr>
          <p:cNvPr id="5" name="Text 2"/>
          <p:cNvSpPr txBox="1"/>
          <p:nvPr/>
        </p:nvSpPr>
        <p:spPr>
          <a:xfrm>
            <a:off x="6035040" y="1188720"/>
            <a:ext cx="2651760" cy="27432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Four-eyes approval</a:t>
            </a:r>
            <a:endParaRPr lang="en-US" sz="1500" dirty="0"/>
          </a:p>
        </p:txBody>
      </p:sp>
      <p:sp>
        <p:nvSpPr>
          <p:cNvPr id="6" name="Text 3"/>
          <p:cNvSpPr txBox="1"/>
          <p:nvPr/>
        </p:nvSpPr>
        <p:spPr>
          <a:xfrm>
            <a:off x="6035040" y="1463040"/>
            <a:ext cx="2651760" cy="5029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The author can't publish their own advisory</a:t>
            </a:r>
            <a:endParaRPr lang="en-US" sz="1250" dirty="0"/>
          </a:p>
        </p:txBody>
      </p:sp>
      <p:sp>
        <p:nvSpPr>
          <p:cNvPr id="7" name="Text 4"/>
          <p:cNvSpPr txBox="1"/>
          <p:nvPr/>
        </p:nvSpPr>
        <p:spPr>
          <a:xfrm>
            <a:off x="6035040" y="2011680"/>
            <a:ext cx="2651760" cy="27432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Instant reach</a:t>
            </a:r>
            <a:endParaRPr lang="en-US" sz="1500" dirty="0"/>
          </a:p>
        </p:txBody>
      </p:sp>
      <p:sp>
        <p:nvSpPr>
          <p:cNvPr id="8" name="Text 5"/>
          <p:cNvSpPr txBox="1"/>
          <p:nvPr/>
        </p:nvSpPr>
        <p:spPr>
          <a:xfrm>
            <a:off x="6035040" y="2286000"/>
            <a:ext cx="2651760" cy="5029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Approved advisory updates the assistant and alerts every affected trip</a:t>
            </a:r>
            <a:endParaRPr lang="en-US" sz="1250" dirty="0"/>
          </a:p>
        </p:txBody>
      </p:sp>
      <p:sp>
        <p:nvSpPr>
          <p:cNvPr id="9" name="Text 6"/>
          <p:cNvSpPr txBox="1"/>
          <p:nvPr/>
        </p:nvSpPr>
        <p:spPr>
          <a:xfrm>
            <a:off x="6035040" y="2834640"/>
            <a:ext cx="2651760" cy="27432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Full audit trail</a:t>
            </a:r>
            <a:endParaRPr lang="en-US" sz="1500" dirty="0"/>
          </a:p>
        </p:txBody>
      </p:sp>
      <p:sp>
        <p:nvSpPr>
          <p:cNvPr id="10" name="Text 7"/>
          <p:cNvSpPr txBox="1"/>
          <p:nvPr/>
        </p:nvSpPr>
        <p:spPr>
          <a:xfrm>
            <a:off x="6035040" y="3108960"/>
            <a:ext cx="2651760" cy="5029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Every login, approval and road change is logged</a:t>
            </a:r>
            <a:endParaRPr lang="en-US" sz="1250" dirty="0"/>
          </a:p>
        </p:txBody>
      </p:sp>
      <p:sp>
        <p:nvSpPr>
          <p:cNvPr id="11" name="Text 8"/>
          <p:cNvSpPr txBox="1"/>
          <p:nvPr/>
        </p:nvSpPr>
        <p:spPr>
          <a:xfrm>
            <a:off x="6035040" y="3657600"/>
            <a:ext cx="2651760" cy="27432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Live insight</a:t>
            </a:r>
            <a:endParaRPr lang="en-US" sz="1500" dirty="0"/>
          </a:p>
        </p:txBody>
      </p:sp>
      <p:sp>
        <p:nvSpPr>
          <p:cNvPr id="12" name="Text 9"/>
          <p:cNvSpPr txBox="1"/>
          <p:nvPr/>
        </p:nvSpPr>
        <p:spPr>
          <a:xfrm>
            <a:off x="6035040" y="3931920"/>
            <a:ext cx="2651760" cy="5029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What pilgrims ask, by topic and language</a:t>
            </a:r>
            <a:endParaRPr lang="en-US" sz="1250" dirty="0"/>
          </a:p>
        </p:txBody>
      </p:sp>
      <p:sp>
        <p:nvSpPr>
          <p:cNvPr id="13" name="Text 10"/>
          <p:cNvSpPr txBox="1"/>
          <p:nvPr/>
        </p:nvSpPr>
        <p:spPr>
          <a:xfrm>
            <a:off x="548640" y="3657600"/>
            <a:ext cx="5120640" cy="27432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Demo: advisory published to 4 subscribed trips: 3 by WhatsApp, 1 by SMS fallback</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Built from proven, low-cost components</a:t>
            </a:r>
            <a:endParaRPr lang="en-US" sz="3000" dirty="0"/>
          </a:p>
        </p:txBody>
      </p:sp>
      <p:sp>
        <p:nvSpPr>
          <p:cNvPr id="3" name="layer label 1"/>
          <p:cNvSpPr/>
          <p:nvPr/>
        </p:nvSpPr>
        <p:spPr>
          <a:xfrm>
            <a:off x="457200" y="1188720"/>
            <a:ext cx="1554480" cy="640080"/>
          </a:xfrm>
          <a:prstGeom prst="roundRect">
            <a:avLst>
              <a:gd name="adj" fmla="val 11429"/>
            </a:avLst>
          </a:prstGeom>
          <a:solidFill>
            <a:schemeClr val="accent2"/>
          </a:solidFill>
          <a:ln w="12700">
            <a:solidFill>
              <a:schemeClr val="accent2"/>
            </a:solidFill>
            <a:prstDash val="solid"/>
          </a:ln>
        </p:spPr>
        <p:txBody>
          <a:bodyPr/>
          <a:p/>
        </p:txBody>
      </p:sp>
      <p:sp>
        <p:nvSpPr>
          <p:cNvPr id="4" name="Text 2"/>
          <p:cNvSpPr txBox="1"/>
          <p:nvPr/>
        </p:nvSpPr>
        <p:spPr>
          <a:xfrm>
            <a:off x="457200" y="1188720"/>
            <a:ext cx="1554480" cy="6400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Channels</a:t>
            </a:r>
            <a:endParaRPr lang="en-US" sz="1500" dirty="0"/>
          </a:p>
        </p:txBody>
      </p:sp>
      <p:sp>
        <p:nvSpPr>
          <p:cNvPr id="5" name="layer body 1"/>
          <p:cNvSpPr/>
          <p:nvPr/>
        </p:nvSpPr>
        <p:spPr>
          <a:xfrm>
            <a:off x="2148840" y="1188720"/>
            <a:ext cx="6537960" cy="640080"/>
          </a:xfrm>
          <a:prstGeom prst="roundRect">
            <a:avLst>
              <a:gd name="adj" fmla="val 11429"/>
            </a:avLst>
          </a:prstGeom>
          <a:solidFill>
            <a:schemeClr val="bg1"/>
          </a:solidFill>
          <a:ln w="12700">
            <a:solidFill>
              <a:schemeClr val="bg1"/>
            </a:solidFill>
            <a:prstDash val="solid"/>
          </a:ln>
        </p:spPr>
        <p:txBody>
          <a:bodyPr/>
          <a:p/>
        </p:txBody>
      </p:sp>
      <p:sp>
        <p:nvSpPr>
          <p:cNvPr id="6" name="Text 4"/>
          <p:cNvSpPr txBox="1"/>
          <p:nvPr/>
        </p:nvSpPr>
        <p:spPr>
          <a:xfrm>
            <a:off x="2331720" y="1188720"/>
            <a:ext cx="6217920" cy="64008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WhatsApp · Web app (PWA) · SMS · Officials' dashboard</a:t>
            </a:r>
            <a:endParaRPr lang="en-US" sz="1350" dirty="0"/>
          </a:p>
        </p:txBody>
      </p:sp>
      <p:sp>
        <p:nvSpPr>
          <p:cNvPr id="7" name="layer label 2"/>
          <p:cNvSpPr/>
          <p:nvPr/>
        </p:nvSpPr>
        <p:spPr>
          <a:xfrm>
            <a:off x="457200" y="1965960"/>
            <a:ext cx="1554480" cy="640080"/>
          </a:xfrm>
          <a:prstGeom prst="roundRect">
            <a:avLst>
              <a:gd name="adj" fmla="val 11429"/>
            </a:avLst>
          </a:prstGeom>
          <a:solidFill>
            <a:schemeClr val="accent1"/>
          </a:solidFill>
          <a:ln w="12700">
            <a:solidFill>
              <a:schemeClr val="accent1"/>
            </a:solidFill>
            <a:prstDash val="solid"/>
          </a:ln>
        </p:spPr>
        <p:txBody>
          <a:bodyPr/>
          <a:p/>
        </p:txBody>
      </p:sp>
      <p:sp>
        <p:nvSpPr>
          <p:cNvPr id="8" name="Text 6"/>
          <p:cNvSpPr txBox="1"/>
          <p:nvPr/>
        </p:nvSpPr>
        <p:spPr>
          <a:xfrm>
            <a:off x="457200" y="1965960"/>
            <a:ext cx="1554480" cy="6400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AI engines</a:t>
            </a:r>
            <a:endParaRPr lang="en-US" sz="1500" dirty="0"/>
          </a:p>
        </p:txBody>
      </p:sp>
      <p:sp>
        <p:nvSpPr>
          <p:cNvPr id="9" name="layer body 2"/>
          <p:cNvSpPr/>
          <p:nvPr/>
        </p:nvSpPr>
        <p:spPr>
          <a:xfrm>
            <a:off x="2148840" y="1965960"/>
            <a:ext cx="6537960" cy="640080"/>
          </a:xfrm>
          <a:prstGeom prst="roundRect">
            <a:avLst>
              <a:gd name="adj" fmla="val 11429"/>
            </a:avLst>
          </a:prstGeom>
          <a:solidFill>
            <a:schemeClr val="bg1"/>
          </a:solidFill>
          <a:ln w="12700">
            <a:solidFill>
              <a:schemeClr val="bg1"/>
            </a:solidFill>
            <a:prstDash val="solid"/>
          </a:ln>
        </p:spPr>
        <p:txBody>
          <a:bodyPr/>
          <a:p/>
        </p:txBody>
      </p:sp>
      <p:sp>
        <p:nvSpPr>
          <p:cNvPr id="10" name="Text 8"/>
          <p:cNvSpPr txBox="1"/>
          <p:nvPr/>
        </p:nvSpPr>
        <p:spPr>
          <a:xfrm>
            <a:off x="2331720" y="1965960"/>
            <a:ext cx="6217920" cy="64008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LangChain RAG on OpenRouter · Intent model · Gradient-boosted forecaster · Risk scoring · Bhashini for Indian languages</a:t>
            </a:r>
            <a:endParaRPr lang="en-US" sz="1350" dirty="0"/>
          </a:p>
        </p:txBody>
      </p:sp>
      <p:sp>
        <p:nvSpPr>
          <p:cNvPr id="11" name="layer label 3"/>
          <p:cNvSpPr/>
          <p:nvPr/>
        </p:nvSpPr>
        <p:spPr>
          <a:xfrm>
            <a:off x="457200" y="2743200"/>
            <a:ext cx="1554480" cy="640080"/>
          </a:xfrm>
          <a:prstGeom prst="roundRect">
            <a:avLst>
              <a:gd name="adj" fmla="val 11429"/>
            </a:avLst>
          </a:prstGeom>
          <a:solidFill>
            <a:schemeClr val="accent5"/>
          </a:solidFill>
          <a:ln w="12700">
            <a:solidFill>
              <a:schemeClr val="accent5"/>
            </a:solidFill>
            <a:prstDash val="solid"/>
          </a:ln>
        </p:spPr>
        <p:txBody>
          <a:bodyPr/>
          <a:p/>
        </p:txBody>
      </p:sp>
      <p:sp>
        <p:nvSpPr>
          <p:cNvPr id="12" name="Text 10"/>
          <p:cNvSpPr txBox="1"/>
          <p:nvPr/>
        </p:nvSpPr>
        <p:spPr>
          <a:xfrm>
            <a:off x="457200" y="2743200"/>
            <a:ext cx="1554480" cy="6400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Platform</a:t>
            </a:r>
            <a:endParaRPr lang="en-US" sz="1500" dirty="0"/>
          </a:p>
        </p:txBody>
      </p:sp>
      <p:sp>
        <p:nvSpPr>
          <p:cNvPr id="13" name="layer body 3"/>
          <p:cNvSpPr/>
          <p:nvPr/>
        </p:nvSpPr>
        <p:spPr>
          <a:xfrm>
            <a:off x="2148840" y="2743200"/>
            <a:ext cx="6537960" cy="640080"/>
          </a:xfrm>
          <a:prstGeom prst="roundRect">
            <a:avLst>
              <a:gd name="adj" fmla="val 11429"/>
            </a:avLst>
          </a:prstGeom>
          <a:solidFill>
            <a:schemeClr val="bg1"/>
          </a:solidFill>
          <a:ln w="12700">
            <a:solidFill>
              <a:schemeClr val="bg1"/>
            </a:solidFill>
            <a:prstDash val="solid"/>
          </a:ln>
        </p:spPr>
        <p:txBody>
          <a:bodyPr/>
          <a:p/>
        </p:txBody>
      </p:sp>
      <p:sp>
        <p:nvSpPr>
          <p:cNvPr id="14" name="Text 12"/>
          <p:cNvSpPr txBox="1"/>
          <p:nvPr/>
        </p:nvSpPr>
        <p:spPr>
          <a:xfrm>
            <a:off x="2331720" y="2743200"/>
            <a:ext cx="6217920" cy="64008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Python · FastAPI · scikit-learn · SQLite → PostgreSQL/PostGIS · runs offline on a laptop</a:t>
            </a:r>
            <a:endParaRPr lang="en-US" sz="1350" dirty="0"/>
          </a:p>
        </p:txBody>
      </p:sp>
      <p:pic>
        <p:nvPicPr>
          <p:cNvPr id="15" name="trust check 1" descr="check">    </p:cNvPr>
          <p:cNvPicPr>
            <a:picLocks noChangeAspect="1"/>
          </p:cNvPicPr>
          <p:nvPr/>
        </p:nvPicPr>
        <p:blipFill>
          <a:blip r:embed="rId1"/>
          <a:stretch>
            <a:fillRect/>
          </a:stretch>
        </p:blipFill>
        <p:spPr>
          <a:xfrm>
            <a:off x="457200" y="3657600"/>
            <a:ext cx="256032" cy="256032"/>
          </a:xfrm>
          <a:prstGeom prst="rect">
            <a:avLst/>
          </a:prstGeom>
        </p:spPr>
      </p:pic>
      <p:sp>
        <p:nvSpPr>
          <p:cNvPr id="16" name="Text 13"/>
          <p:cNvSpPr txBox="1"/>
          <p:nvPr/>
        </p:nvSpPr>
        <p:spPr>
          <a:xfrm>
            <a:off x="804672" y="3630168"/>
            <a:ext cx="1691640" cy="54864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No new hardware</a:t>
            </a:r>
            <a:endParaRPr lang="en-US" sz="1250" dirty="0"/>
          </a:p>
        </p:txBody>
      </p:sp>
      <p:pic>
        <p:nvPicPr>
          <p:cNvPr id="17" name="trust check 2" descr="check">    </p:cNvPr>
          <p:cNvPicPr>
            <a:picLocks noChangeAspect="1"/>
          </p:cNvPicPr>
          <p:nvPr/>
        </p:nvPicPr>
        <p:blipFill>
          <a:blip r:embed="rId2"/>
          <a:stretch>
            <a:fillRect/>
          </a:stretch>
        </p:blipFill>
        <p:spPr>
          <a:xfrm>
            <a:off x="2560320" y="3657600"/>
            <a:ext cx="256032" cy="256032"/>
          </a:xfrm>
          <a:prstGeom prst="rect">
            <a:avLst/>
          </a:prstGeom>
        </p:spPr>
      </p:pic>
      <p:sp>
        <p:nvSpPr>
          <p:cNvPr id="18" name="Text 14"/>
          <p:cNvSpPr txBox="1"/>
          <p:nvPr/>
        </p:nvSpPr>
        <p:spPr>
          <a:xfrm>
            <a:off x="2907792" y="3630168"/>
            <a:ext cx="1691640" cy="54864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Human approves every alert</a:t>
            </a:r>
            <a:endParaRPr lang="en-US" sz="1250" dirty="0"/>
          </a:p>
        </p:txBody>
      </p:sp>
      <p:pic>
        <p:nvPicPr>
          <p:cNvPr id="19" name="trust check 3" descr="check">    </p:cNvPr>
          <p:cNvPicPr>
            <a:picLocks noChangeAspect="1"/>
          </p:cNvPicPr>
          <p:nvPr/>
        </p:nvPicPr>
        <p:blipFill>
          <a:blip r:embed="rId3"/>
          <a:stretch>
            <a:fillRect/>
          </a:stretch>
        </p:blipFill>
        <p:spPr>
          <a:xfrm>
            <a:off x="4663440" y="3657600"/>
            <a:ext cx="256032" cy="256032"/>
          </a:xfrm>
          <a:prstGeom prst="rect">
            <a:avLst/>
          </a:prstGeom>
        </p:spPr>
      </p:pic>
      <p:sp>
        <p:nvSpPr>
          <p:cNvPr id="20" name="Text 15"/>
          <p:cNvSpPr txBox="1"/>
          <p:nvPr/>
        </p:nvSpPr>
        <p:spPr>
          <a:xfrm>
            <a:off x="5010912" y="3630168"/>
            <a:ext cx="1691640" cy="54864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Consent + hashed phone numbers (DPDP Act)</a:t>
            </a:r>
            <a:endParaRPr lang="en-US" sz="1250" dirty="0"/>
          </a:p>
        </p:txBody>
      </p:sp>
      <p:pic>
        <p:nvPicPr>
          <p:cNvPr id="21" name="trust check 4" descr="check">    </p:cNvPr>
          <p:cNvPicPr>
            <a:picLocks noChangeAspect="1"/>
          </p:cNvPicPr>
          <p:nvPr/>
        </p:nvPicPr>
        <p:blipFill>
          <a:blip r:embed="rId4"/>
          <a:stretch>
            <a:fillRect/>
          </a:stretch>
        </p:blipFill>
        <p:spPr>
          <a:xfrm>
            <a:off x="6766560" y="3657600"/>
            <a:ext cx="256032" cy="256032"/>
          </a:xfrm>
          <a:prstGeom prst="rect">
            <a:avLst/>
          </a:prstGeom>
        </p:spPr>
      </p:pic>
      <p:sp>
        <p:nvSpPr>
          <p:cNvPr id="22" name="Text 16"/>
          <p:cNvSpPr txBox="1"/>
          <p:nvPr/>
        </p:nvSpPr>
        <p:spPr>
          <a:xfrm>
            <a:off x="7114032" y="3630168"/>
            <a:ext cx="1691640" cy="54864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Graceful offline mode</a:t>
            </a:r>
            <a:endParaRPr lang="en-US" sz="12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The working prototype already performs</a:t>
            </a:r>
            <a:endParaRPr lang="en-US" sz="3000" dirty="0"/>
          </a:p>
        </p:txBody>
      </p:sp>
      <p:graphicFrame>
        <p:nvGraphicFramePr>
          <p:cNvPr id="3" name="results chart" descr="Evaluation results"/>
          <p:cNvGraphicFramePr/>
          <p:nvPr/>
        </p:nvGraphicFramePr>
        <p:xfrm>
          <a:off x="457200" y="1143000"/>
          <a:ext cx="4937760" cy="3474720"/>
        </p:xfrm>
        <a:graphic xmlns:a="http://schemas.openxmlformats.org/drawingml/2006/main">
          <a:graphicData uri="http://schemas.openxmlformats.org/drawingml/2006/chart">
            <c:chart xmlns:c="http://schemas.openxmlformats.org/drawingml/2006/chart" r:id="rId1"/>
          </a:graphicData>
        </a:graphic>
      </p:graphicFrame>
      <p:sp>
        <p:nvSpPr>
          <p:cNvPr id="4" name="result card 1"/>
          <p:cNvSpPr/>
          <p:nvPr/>
        </p:nvSpPr>
        <p:spPr>
          <a:xfrm>
            <a:off x="5760720" y="1188720"/>
            <a:ext cx="2926080" cy="960120"/>
          </a:xfrm>
          <a:prstGeom prst="roundRect">
            <a:avLst>
              <a:gd name="adj" fmla="val 7619"/>
            </a:avLst>
          </a:prstGeom>
          <a:solidFill>
            <a:srgbClr val="FBEFE3"/>
          </a:solidFill>
          <a:ln w="12700">
            <a:solidFill>
              <a:srgbClr val="FBEFE3"/>
            </a:solidFill>
            <a:prstDash val="solid"/>
          </a:ln>
        </p:spPr>
        <p:txBody>
          <a:bodyPr/>
          <a:p/>
        </p:txBody>
      </p:sp>
      <p:sp>
        <p:nvSpPr>
          <p:cNvPr id="5" name="Text 2"/>
          <p:cNvSpPr txBox="1"/>
          <p:nvPr/>
        </p:nvSpPr>
        <p:spPr>
          <a:xfrm>
            <a:off x="5943600" y="1298448"/>
            <a:ext cx="2651760" cy="45720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23 / 23</a:t>
            </a:r>
            <a:endParaRPr lang="en-US" sz="2800" dirty="0"/>
          </a:p>
        </p:txBody>
      </p:sp>
      <p:sp>
        <p:nvSpPr>
          <p:cNvPr id="6" name="Text 3"/>
          <p:cNvSpPr txBox="1"/>
          <p:nvPr/>
        </p:nvSpPr>
        <p:spPr>
          <a:xfrm>
            <a:off x="5943600" y="1755648"/>
            <a:ext cx="265176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automated tests pass</a:t>
            </a:r>
            <a:endParaRPr lang="en-US" sz="1300" dirty="0"/>
          </a:p>
        </p:txBody>
      </p:sp>
      <p:sp>
        <p:nvSpPr>
          <p:cNvPr id="7" name="result card 2"/>
          <p:cNvSpPr/>
          <p:nvPr/>
        </p:nvSpPr>
        <p:spPr>
          <a:xfrm>
            <a:off x="5760720" y="2331720"/>
            <a:ext cx="2926080" cy="960120"/>
          </a:xfrm>
          <a:prstGeom prst="roundRect">
            <a:avLst>
              <a:gd name="adj" fmla="val 7619"/>
            </a:avLst>
          </a:prstGeom>
          <a:solidFill>
            <a:schemeClr val="bg2"/>
          </a:solidFill>
          <a:ln w="12700">
            <a:solidFill>
              <a:schemeClr val="bg2"/>
            </a:solidFill>
            <a:prstDash val="solid"/>
          </a:ln>
        </p:spPr>
        <p:txBody>
          <a:bodyPr/>
          <a:p/>
        </p:txBody>
      </p:sp>
      <p:sp>
        <p:nvSpPr>
          <p:cNvPr id="8" name="Text 5"/>
          <p:cNvSpPr txBox="1"/>
          <p:nvPr/>
        </p:nvSpPr>
        <p:spPr>
          <a:xfrm>
            <a:off x="5943600" y="2441448"/>
            <a:ext cx="265176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~1.3 ms</a:t>
            </a:r>
            <a:endParaRPr lang="en-US" sz="2800" dirty="0"/>
          </a:p>
        </p:txBody>
      </p:sp>
      <p:sp>
        <p:nvSpPr>
          <p:cNvPr id="9" name="Text 6"/>
          <p:cNvSpPr txBox="1"/>
          <p:nvPr/>
        </p:nvSpPr>
        <p:spPr>
          <a:xfrm>
            <a:off x="5943600" y="2898648"/>
            <a:ext cx="265176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 find an answer</a:t>
            </a:r>
            <a:endParaRPr lang="en-US" sz="1300" dirty="0"/>
          </a:p>
        </p:txBody>
      </p:sp>
      <p:sp>
        <p:nvSpPr>
          <p:cNvPr id="10" name="result card 3"/>
          <p:cNvSpPr/>
          <p:nvPr/>
        </p:nvSpPr>
        <p:spPr>
          <a:xfrm>
            <a:off x="5760720" y="3474720"/>
            <a:ext cx="2926080" cy="960120"/>
          </a:xfrm>
          <a:prstGeom prst="roundRect">
            <a:avLst>
              <a:gd name="adj" fmla="val 7619"/>
            </a:avLst>
          </a:prstGeom>
          <a:solidFill>
            <a:schemeClr val="bg2"/>
          </a:solidFill>
          <a:ln w="12700">
            <a:solidFill>
              <a:schemeClr val="bg2"/>
            </a:solidFill>
            <a:prstDash val="solid"/>
          </a:ln>
        </p:spPr>
        <p:txBody>
          <a:bodyPr/>
          <a:p/>
        </p:txBody>
      </p:sp>
      <p:sp>
        <p:nvSpPr>
          <p:cNvPr id="11" name="Text 8"/>
          <p:cNvSpPr txBox="1"/>
          <p:nvPr/>
        </p:nvSpPr>
        <p:spPr>
          <a:xfrm>
            <a:off x="5943600" y="3584448"/>
            <a:ext cx="265176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40</a:t>
            </a:r>
            <a:endParaRPr lang="en-US" sz="2800" dirty="0"/>
          </a:p>
        </p:txBody>
      </p:sp>
      <p:sp>
        <p:nvSpPr>
          <p:cNvPr id="12" name="Text 9"/>
          <p:cNvSpPr txBox="1"/>
          <p:nvPr/>
        </p:nvSpPr>
        <p:spPr>
          <a:xfrm>
            <a:off x="5943600" y="4041648"/>
            <a:ext cx="265176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bilingual test questions</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What exists today vs. YatraSetu</a:t>
            </a:r>
            <a:endParaRPr lang="en-US" sz="3000" dirty="0"/>
          </a:p>
        </p:txBody>
      </p:sp>
      <p:graphicFrame>
        <p:nvGraphicFramePr>
          <p:cNvPr id="13"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60320"/>
                <a:gridCol w="1417320"/>
                <a:gridCol w="1417320"/>
                <a:gridCol w="1417320"/>
                <a:gridCol w="1417320"/>
              </a:tblGrid>
              <a:tr h="438912">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1F4E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Registration app</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1F4E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Disaster alert apps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1F4E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Press notes / social</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1F4E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YatraSetu AI</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1F4E5F"/>
                    </a:solidFill>
                  </a:tcPr>
                </a:tc>
              </a:tr>
              <a:tr h="438912">
                <a:tc>
                  <a:txBody>
                    <a:bodyPr/>
                    <a:lstStyle/>
                    <a:p>
                      <a:pPr indent="0" marL="0">
                        <a:buNone/>
                      </a:pPr>
                      <a:r>
                        <a:rPr lang="en-US" sz="1300" b="1" dirty="0">
                          <a:solidFill>
                            <a:srgbClr val="1B2A33"/>
                          </a:solidFill>
                          <a:latin typeface="Calibri" pitchFamily="34" charset="0"/>
                          <a:ea typeface="Calibri" pitchFamily="34" charset="-122"/>
                          <a:cs typeface="Calibri" pitchFamily="34" charset="-120"/>
                        </a:rPr>
                        <a:t>Answers any yatra question</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2A33"/>
                          </a:solidFill>
                          <a:latin typeface="Calibri" pitchFamily="34" charset="0"/>
                          <a:ea typeface="Calibri" pitchFamily="34" charset="-122"/>
                          <a:cs typeface="Calibri" pitchFamily="34" charset="-120"/>
                        </a:rPr>
                        <a:t>Your language (voice-friendly)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9731E"/>
                          </a:solidFill>
                          <a:latin typeface="Calibri" pitchFamily="34" charset="0"/>
                          <a:ea typeface="Calibri" pitchFamily="34" charset="-122"/>
                          <a:cs typeface="Calibri" pitchFamily="34" charset="-120"/>
                        </a:rPr>
                        <a:t>Partly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9731E"/>
                          </a:solidFill>
                          <a:latin typeface="Calibri" pitchFamily="34" charset="0"/>
                          <a:ea typeface="Calibri" pitchFamily="34" charset="-122"/>
                          <a:cs typeface="Calibri" pitchFamily="34" charset="-120"/>
                        </a:rPr>
                        <a:t>Partly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9731E"/>
                          </a:solidFill>
                          <a:latin typeface="Calibri" pitchFamily="34" charset="0"/>
                          <a:ea typeface="Calibri" pitchFamily="34" charset="-122"/>
                          <a:cs typeface="Calibri" pitchFamily="34" charset="-120"/>
                        </a:rPr>
                        <a:t>Partly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2A33"/>
                          </a:solidFill>
                          <a:latin typeface="Calibri" pitchFamily="34" charset="0"/>
                          <a:ea typeface="Calibri" pitchFamily="34" charset="-122"/>
                          <a:cs typeface="Calibri" pitchFamily="34" charset="-120"/>
                        </a:rPr>
                        <a:t>Crowd forecast vs. capacity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2A33"/>
                          </a:solidFill>
                          <a:latin typeface="Calibri" pitchFamily="34" charset="0"/>
                          <a:ea typeface="Calibri" pitchFamily="34" charset="-122"/>
                          <a:cs typeface="Calibri" pitchFamily="34" charset="-120"/>
                        </a:rPr>
                        <a:t>Route- and date-specific alerts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9731E"/>
                          </a:solidFill>
                          <a:latin typeface="Calibri" pitchFamily="34" charset="0"/>
                          <a:ea typeface="Calibri" pitchFamily="34" charset="-122"/>
                          <a:cs typeface="Calibri" pitchFamily="34" charset="-120"/>
                        </a:rPr>
                        <a:t>Partly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2A33"/>
                          </a:solidFill>
                          <a:latin typeface="Calibri" pitchFamily="34" charset="0"/>
                          <a:ea typeface="Calibri" pitchFamily="34" charset="-122"/>
                          <a:cs typeface="Calibri" pitchFamily="34" charset="-120"/>
                        </a:rPr>
                        <a:t>Health readiness + nearest help</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B2A33"/>
                          </a:solidFill>
                          <a:latin typeface="Calibri" pitchFamily="34" charset="0"/>
                          <a:ea typeface="Calibri" pitchFamily="34" charset="-122"/>
                          <a:cs typeface="Calibri" pitchFamily="34" charset="-120"/>
                        </a:rPr>
                        <a:t>Verified by officials, with audit</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D9731E"/>
                          </a:solidFill>
                          <a:latin typeface="Calibri" pitchFamily="34" charset="0"/>
                          <a:ea typeface="Calibri" pitchFamily="34" charset="-122"/>
                          <a:cs typeface="Calibri" pitchFamily="34" charset="-120"/>
                        </a:rPr>
                        <a:t>Partly</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5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6DEE2"/>
                      </a:solidFill>
                      <a:prstDash val="solid"/>
                      <a:round/>
                      <a:headEnd type="none" w="med" len="med"/>
                      <a:tailEnd type="none" w="med" len="med"/>
                    </a:lnL>
                    <a:lnR w="9525" cap="flat" cmpd="sng" algn="ctr">
                      <a:solidFill>
                        <a:srgbClr val="D6DEE2"/>
                      </a:solidFill>
                      <a:prstDash val="solid"/>
                      <a:round/>
                      <a:headEnd type="none" w="med" len="med"/>
                      <a:tailEnd type="none" w="med" len="med"/>
                    </a:lnR>
                    <a:lnT w="9525" cap="flat" cmpd="sng" algn="ctr">
                      <a:solidFill>
                        <a:srgbClr val="D6DEE2"/>
                      </a:solidFill>
                      <a:prstDash val="solid"/>
                      <a:round/>
                      <a:headEnd type="none" w="med" len="med"/>
                      <a:tailEnd type="none" w="med" len="med"/>
                    </a:lnT>
                    <a:lnB w="9525" cap="flat" cmpd="sng" algn="ctr">
                      <a:solidFill>
                        <a:srgbClr val="D6DE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Costs less than one rupee per pilgrim</a:t>
            </a:r>
            <a:endParaRPr lang="en-US" sz="3000" dirty="0"/>
          </a:p>
        </p:txBody>
      </p:sp>
      <p:sp>
        <p:nvSpPr>
          <p:cNvPr id="3" name="cost card 1"/>
          <p:cNvSpPr/>
          <p:nvPr/>
        </p:nvSpPr>
        <p:spPr>
          <a:xfrm>
            <a:off x="457200" y="1188720"/>
            <a:ext cx="260604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640080" y="1325880"/>
            <a:ext cx="22860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₹24.75 lakh</a:t>
            </a:r>
            <a:endParaRPr lang="en-US" sz="2800" dirty="0"/>
          </a:p>
        </p:txBody>
      </p:sp>
      <p:sp>
        <p:nvSpPr>
          <p:cNvPr id="5" name="Text 3"/>
          <p:cNvSpPr txBox="1"/>
          <p:nvPr/>
        </p:nvSpPr>
        <p:spPr>
          <a:xfrm>
            <a:off x="640080" y="1920240"/>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one-time build (6 months, 4–5 people)</a:t>
            </a:r>
            <a:endParaRPr lang="en-US" sz="1300" dirty="0"/>
          </a:p>
        </p:txBody>
      </p:sp>
      <p:sp>
        <p:nvSpPr>
          <p:cNvPr id="6" name="cost card 2"/>
          <p:cNvSpPr/>
          <p:nvPr/>
        </p:nvSpPr>
        <p:spPr>
          <a:xfrm>
            <a:off x="3264408" y="1188720"/>
            <a:ext cx="260604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3447288" y="1325880"/>
            <a:ext cx="22860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₹21 lakh / yr</a:t>
            </a:r>
            <a:endParaRPr lang="en-US" sz="2800" dirty="0"/>
          </a:p>
        </p:txBody>
      </p:sp>
      <p:sp>
        <p:nvSpPr>
          <p:cNvPr id="8" name="Text 6"/>
          <p:cNvSpPr txBox="1"/>
          <p:nvPr/>
        </p:nvSpPr>
        <p:spPr>
          <a:xfrm>
            <a:off x="3447288" y="1920240"/>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 run: cloud, AI, messages, support</a:t>
            </a:r>
            <a:endParaRPr lang="en-US" sz="1300" dirty="0"/>
          </a:p>
        </p:txBody>
      </p:sp>
      <p:sp>
        <p:nvSpPr>
          <p:cNvPr id="9" name="cost card 3"/>
          <p:cNvSpPr/>
          <p:nvPr/>
        </p:nvSpPr>
        <p:spPr>
          <a:xfrm>
            <a:off x="6071616" y="1188720"/>
            <a:ext cx="2606040" cy="1371600"/>
          </a:xfrm>
          <a:prstGeom prst="roundRect">
            <a:avLst>
              <a:gd name="adj" fmla="val 5333"/>
            </a:avLst>
          </a:prstGeom>
          <a:solidFill>
            <a:srgbClr val="FBEFE3"/>
          </a:solidFill>
          <a:ln w="12700">
            <a:solidFill>
              <a:srgbClr val="FBEFE3"/>
            </a:solidFill>
            <a:prstDash val="solid"/>
          </a:ln>
        </p:spPr>
      </p:sp>
      <p:sp>
        <p:nvSpPr>
          <p:cNvPr id="10" name="Text 8"/>
          <p:cNvSpPr txBox="1"/>
          <p:nvPr/>
        </p:nvSpPr>
        <p:spPr>
          <a:xfrm>
            <a:off x="6254496" y="1325880"/>
            <a:ext cx="2286000" cy="59436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₹0.41</a:t>
            </a:r>
            <a:endParaRPr lang="en-US" sz="2800" dirty="0"/>
          </a:p>
        </p:txBody>
      </p:sp>
      <p:sp>
        <p:nvSpPr>
          <p:cNvPr id="11" name="Text 9"/>
          <p:cNvSpPr txBox="1"/>
          <p:nvPr/>
        </p:nvSpPr>
        <p:spPr>
          <a:xfrm>
            <a:off x="6254496" y="1920240"/>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per pilgrim per season</a:t>
            </a:r>
            <a:endParaRPr lang="en-US" sz="1300" dirty="0"/>
          </a:p>
        </p:txBody>
      </p:sp>
      <p:sp>
        <p:nvSpPr>
          <p:cNvPr id="12" name="payers circle"/>
          <p:cNvSpPr/>
          <p:nvPr/>
        </p:nvSpPr>
        <p:spPr>
          <a:xfrm>
            <a:off x="457200" y="2880360"/>
            <a:ext cx="457200" cy="457200"/>
          </a:xfrm>
          <a:prstGeom prst="ellipse">
            <a:avLst/>
          </a:prstGeom>
          <a:solidFill>
            <a:schemeClr val="accent1"/>
          </a:solidFill>
          <a:ln w="12700">
            <a:solidFill>
              <a:schemeClr val="accent1"/>
            </a:solidFill>
            <a:prstDash val="solid"/>
          </a:ln>
        </p:spPr>
      </p:sp>
      <p:pic>
        <p:nvPicPr>
          <p:cNvPr id="13" name="payers glyph" descr="payers">    </p:cNvPr>
          <p:cNvPicPr>
            <a:picLocks noChangeAspect="1"/>
          </p:cNvPicPr>
          <p:nvPr/>
        </p:nvPicPr>
        <p:blipFill>
          <a:blip r:embed="rId1"/>
          <a:stretch>
            <a:fillRect/>
          </a:stretch>
        </p:blipFill>
        <p:spPr>
          <a:xfrm>
            <a:off x="585216" y="3008376"/>
            <a:ext cx="201168" cy="201168"/>
          </a:xfrm>
          <a:prstGeom prst="rect">
            <a:avLst/>
          </a:prstGeom>
        </p:spPr>
      </p:pic>
      <p:sp>
        <p:nvSpPr>
          <p:cNvPr id="14" name="Text 11"/>
          <p:cNvSpPr txBox="1"/>
          <p:nvPr/>
        </p:nvSpPr>
        <p:spPr>
          <a:xfrm>
            <a:off x="1051560" y="2852928"/>
            <a:ext cx="329184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Who pays</a:t>
            </a:r>
            <a:endParaRPr lang="en-US" sz="1500" dirty="0"/>
          </a:p>
        </p:txBody>
      </p:sp>
      <p:sp>
        <p:nvSpPr>
          <p:cNvPr id="15" name="Text 12"/>
          <p:cNvSpPr txBox="1"/>
          <p:nvPr/>
        </p:nvSpPr>
        <p:spPr>
          <a:xfrm>
            <a:off x="1051560" y="3154680"/>
            <a:ext cx="3291840" cy="9144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Uttarakhand Tourism Development Board, state IT agency (ITDA), disaster-mitigation funds, CSR partners</a:t>
            </a:r>
            <a:endParaRPr lang="en-US" sz="1300" dirty="0"/>
          </a:p>
        </p:txBody>
      </p:sp>
      <p:sp>
        <p:nvSpPr>
          <p:cNvPr id="16" name="impact circle"/>
          <p:cNvSpPr/>
          <p:nvPr/>
        </p:nvSpPr>
        <p:spPr>
          <a:xfrm>
            <a:off x="4663440" y="2880360"/>
            <a:ext cx="457200" cy="457200"/>
          </a:xfrm>
          <a:prstGeom prst="ellipse">
            <a:avLst/>
          </a:prstGeom>
          <a:solidFill>
            <a:schemeClr val="accent3"/>
          </a:solidFill>
          <a:ln w="12700">
            <a:solidFill>
              <a:schemeClr val="accent3"/>
            </a:solidFill>
            <a:prstDash val="solid"/>
          </a:ln>
        </p:spPr>
      </p:sp>
      <p:pic>
        <p:nvPicPr>
          <p:cNvPr id="17" name="impact glyph" descr="impact">    </p:cNvPr>
          <p:cNvPicPr>
            <a:picLocks noChangeAspect="1"/>
          </p:cNvPicPr>
          <p:nvPr/>
        </p:nvPicPr>
        <p:blipFill>
          <a:blip r:embed="rId2"/>
          <a:stretch>
            <a:fillRect/>
          </a:stretch>
        </p:blipFill>
        <p:spPr>
          <a:xfrm>
            <a:off x="4791456" y="3008376"/>
            <a:ext cx="201168" cy="201168"/>
          </a:xfrm>
          <a:prstGeom prst="rect">
            <a:avLst/>
          </a:prstGeom>
        </p:spPr>
      </p:pic>
      <p:sp>
        <p:nvSpPr>
          <p:cNvPr id="18" name="Text 14"/>
          <p:cNvSpPr txBox="1"/>
          <p:nvPr/>
        </p:nvSpPr>
        <p:spPr>
          <a:xfrm>
            <a:off x="5257800" y="2852928"/>
            <a:ext cx="342900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Impact we will measure</a:t>
            </a:r>
            <a:endParaRPr lang="en-US" sz="1500" dirty="0"/>
          </a:p>
        </p:txBody>
      </p:sp>
      <p:sp>
        <p:nvSpPr>
          <p:cNvPr id="19" name="Text 15"/>
          <p:cNvSpPr txBox="1"/>
          <p:nvPr/>
        </p:nvSpPr>
        <p:spPr>
          <a:xfrm>
            <a:off x="5257800" y="3154680"/>
            <a:ext cx="3429000" cy="9144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Peak-day load cut by 10%+ · alerts in under 5 min · 1 lakh+ health checks · 5 lakh users in season one</a:t>
            </a:r>
            <a:endParaRPr lang="en-US" sz="1300" dirty="0"/>
          </a:p>
        </p:txBody>
      </p:sp>
      <p:sp>
        <p:nvSpPr>
          <p:cNvPr id="20" name="Text 16"/>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Indicative estimates at typical market rates, not quotations</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From prototype to the 2027 yatra</a:t>
            </a:r>
            <a:endParaRPr lang="en-US" sz="3000" dirty="0"/>
          </a:p>
        </p:txBody>
      </p:sp>
      <p:sp>
        <p:nvSpPr>
          <p:cNvPr id="3" name="timeline line"/>
          <p:cNvSpPr/>
          <p:nvPr/>
        </p:nvSpPr>
        <p:spPr>
          <a:xfrm>
            <a:off x="822960" y="1691640"/>
            <a:ext cx="7498080" cy="0"/>
          </a:xfrm>
          <a:prstGeom prst="line">
            <a:avLst/>
          </a:prstGeom>
          <a:noFill/>
          <a:ln w="25400">
            <a:solidFill>
              <a:schemeClr val="accent6"/>
            </a:solidFill>
            <a:prstDash val="solid"/>
          </a:ln>
        </p:spPr>
      </p:sp>
      <p:sp>
        <p:nvSpPr>
          <p:cNvPr id="4" name="milestone 1"/>
          <p:cNvSpPr/>
          <p:nvPr/>
        </p:nvSpPr>
        <p:spPr>
          <a:xfrm>
            <a:off x="685800" y="1527048"/>
            <a:ext cx="329184" cy="329184"/>
          </a:xfrm>
          <a:prstGeom prst="ellipse">
            <a:avLst/>
          </a:prstGeom>
          <a:solidFill>
            <a:schemeClr val="accent3"/>
          </a:solidFill>
          <a:ln w="25400">
            <a:solidFill>
              <a:schemeClr val="bg1"/>
            </a:solidFill>
            <a:prstDash val="solid"/>
          </a:ln>
        </p:spPr>
      </p:sp>
      <p:sp>
        <p:nvSpPr>
          <p:cNvPr id="5" name="Text 3"/>
          <p:cNvSpPr txBox="1"/>
          <p:nvPr/>
        </p:nvSpPr>
        <p:spPr>
          <a:xfrm>
            <a:off x="457200" y="1143000"/>
            <a:ext cx="1920240" cy="2743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Done</a:t>
            </a:r>
            <a:endParaRPr lang="en-US" sz="1200" dirty="0"/>
          </a:p>
        </p:txBody>
      </p:sp>
      <p:sp>
        <p:nvSpPr>
          <p:cNvPr id="6" name="roadmap card 1"/>
          <p:cNvSpPr/>
          <p:nvPr/>
        </p:nvSpPr>
        <p:spPr>
          <a:xfrm>
            <a:off x="457200" y="2057400"/>
            <a:ext cx="1920240" cy="2331720"/>
          </a:xfrm>
          <a:prstGeom prst="roundRect">
            <a:avLst>
              <a:gd name="adj" fmla="val 3810"/>
            </a:avLst>
          </a:prstGeom>
          <a:solidFill>
            <a:schemeClr val="bg1"/>
          </a:solidFill>
          <a:ln w="12700">
            <a:solidFill>
              <a:schemeClr val="bg1"/>
            </a:solidFill>
            <a:prstDash val="solid"/>
          </a:ln>
        </p:spPr>
      </p:sp>
      <p:sp>
        <p:nvSpPr>
          <p:cNvPr id="7" name="Text 5"/>
          <p:cNvSpPr txBox="1"/>
          <p:nvPr/>
        </p:nvSpPr>
        <p:spPr>
          <a:xfrm>
            <a:off x="594360" y="2194560"/>
            <a:ext cx="164592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Working prototype</a:t>
            </a:r>
            <a:endParaRPr lang="en-US" sz="1500" dirty="0"/>
          </a:p>
        </p:txBody>
      </p:sp>
      <p:sp>
        <p:nvSpPr>
          <p:cNvPr id="8" name="Text 6"/>
          <p:cNvSpPr txBox="1"/>
          <p:nvPr/>
        </p:nvSpPr>
        <p:spPr>
          <a:xfrm>
            <a:off x="594360" y="2606040"/>
            <a:ext cx="164592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Assistant, forecast, route risk, health, SOS, dashboard; 18 tests</a:t>
            </a:r>
            <a:endParaRPr lang="en-US" sz="1300" dirty="0"/>
          </a:p>
        </p:txBody>
      </p:sp>
      <p:sp>
        <p:nvSpPr>
          <p:cNvPr id="9" name="milestone 2"/>
          <p:cNvSpPr/>
          <p:nvPr/>
        </p:nvSpPr>
        <p:spPr>
          <a:xfrm>
            <a:off x="2788920" y="1527048"/>
            <a:ext cx="329184" cy="329184"/>
          </a:xfrm>
          <a:prstGeom prst="ellipse">
            <a:avLst/>
          </a:prstGeom>
          <a:solidFill>
            <a:schemeClr val="accent2"/>
          </a:solidFill>
          <a:ln w="25400">
            <a:solidFill>
              <a:schemeClr val="bg1"/>
            </a:solidFill>
            <a:prstDash val="solid"/>
          </a:ln>
        </p:spPr>
      </p:sp>
      <p:sp>
        <p:nvSpPr>
          <p:cNvPr id="10" name="Text 8"/>
          <p:cNvSpPr txBox="1"/>
          <p:nvPr/>
        </p:nvSpPr>
        <p:spPr>
          <a:xfrm>
            <a:off x="2560320" y="1143000"/>
            <a:ext cx="192024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Nov 2026 – Apr 2027</a:t>
            </a:r>
            <a:endParaRPr lang="en-US" sz="1200" dirty="0"/>
          </a:p>
        </p:txBody>
      </p:sp>
      <p:sp>
        <p:nvSpPr>
          <p:cNvPr id="11" name="roadmap card 2"/>
          <p:cNvSpPr/>
          <p:nvPr/>
        </p:nvSpPr>
        <p:spPr>
          <a:xfrm>
            <a:off x="2560320" y="2057400"/>
            <a:ext cx="1920240" cy="2331720"/>
          </a:xfrm>
          <a:prstGeom prst="roundRect">
            <a:avLst>
              <a:gd name="adj" fmla="val 3810"/>
            </a:avLst>
          </a:prstGeom>
          <a:solidFill>
            <a:schemeClr val="bg1"/>
          </a:solidFill>
          <a:ln w="12700">
            <a:solidFill>
              <a:schemeClr val="bg1"/>
            </a:solidFill>
            <a:prstDash val="solid"/>
          </a:ln>
        </p:spPr>
      </p:sp>
      <p:sp>
        <p:nvSpPr>
          <p:cNvPr id="12" name="Text 10"/>
          <p:cNvSpPr txBox="1"/>
          <p:nvPr/>
        </p:nvSpPr>
        <p:spPr>
          <a:xfrm>
            <a:off x="2697480" y="2194560"/>
            <a:ext cx="164592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Pilot build</a:t>
            </a:r>
            <a:endParaRPr lang="en-US" sz="1500" dirty="0"/>
          </a:p>
        </p:txBody>
      </p:sp>
      <p:sp>
        <p:nvSpPr>
          <p:cNvPr id="13" name="Text 11"/>
          <p:cNvSpPr txBox="1"/>
          <p:nvPr/>
        </p:nvSpPr>
        <p:spPr>
          <a:xfrm>
            <a:off x="2697480" y="2606040"/>
            <a:ext cx="164592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Data MoU, Bhashini voice, live WhatsApp/SMS, security audit</a:t>
            </a:r>
            <a:endParaRPr lang="en-US" sz="1300" dirty="0"/>
          </a:p>
        </p:txBody>
      </p:sp>
      <p:sp>
        <p:nvSpPr>
          <p:cNvPr id="14" name="milestone 3"/>
          <p:cNvSpPr/>
          <p:nvPr/>
        </p:nvSpPr>
        <p:spPr>
          <a:xfrm>
            <a:off x="4892040" y="1527048"/>
            <a:ext cx="329184" cy="329184"/>
          </a:xfrm>
          <a:prstGeom prst="ellipse">
            <a:avLst/>
          </a:prstGeom>
          <a:solidFill>
            <a:schemeClr val="accent2"/>
          </a:solidFill>
          <a:ln w="25400">
            <a:solidFill>
              <a:schemeClr val="bg1"/>
            </a:solidFill>
            <a:prstDash val="solid"/>
          </a:ln>
        </p:spPr>
      </p:sp>
      <p:sp>
        <p:nvSpPr>
          <p:cNvPr id="15" name="Text 13"/>
          <p:cNvSpPr txBox="1"/>
          <p:nvPr/>
        </p:nvSpPr>
        <p:spPr>
          <a:xfrm>
            <a:off x="4663440" y="1143000"/>
            <a:ext cx="192024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May – Jun 2027</a:t>
            </a:r>
            <a:endParaRPr lang="en-US" sz="1200" dirty="0"/>
          </a:p>
        </p:txBody>
      </p:sp>
      <p:sp>
        <p:nvSpPr>
          <p:cNvPr id="16" name="roadmap card 3"/>
          <p:cNvSpPr/>
          <p:nvPr/>
        </p:nvSpPr>
        <p:spPr>
          <a:xfrm>
            <a:off x="4663440" y="2057400"/>
            <a:ext cx="1920240" cy="2331720"/>
          </a:xfrm>
          <a:prstGeom prst="roundRect">
            <a:avLst>
              <a:gd name="adj" fmla="val 3810"/>
            </a:avLst>
          </a:prstGeom>
          <a:solidFill>
            <a:schemeClr val="bg1"/>
          </a:solidFill>
          <a:ln w="12700">
            <a:solidFill>
              <a:schemeClr val="bg1"/>
            </a:solidFill>
            <a:prstDash val="solid"/>
          </a:ln>
        </p:spPr>
      </p:sp>
      <p:sp>
        <p:nvSpPr>
          <p:cNvPr id="17" name="Text 15"/>
          <p:cNvSpPr txBox="1"/>
          <p:nvPr/>
        </p:nvSpPr>
        <p:spPr>
          <a:xfrm>
            <a:off x="4800600" y="2194560"/>
            <a:ext cx="164592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Pilot season</a:t>
            </a:r>
            <a:endParaRPr lang="en-US" sz="1500" dirty="0"/>
          </a:p>
        </p:txBody>
      </p:sp>
      <p:sp>
        <p:nvSpPr>
          <p:cNvPr id="18" name="Text 16"/>
          <p:cNvSpPr txBox="1"/>
          <p:nvPr/>
        </p:nvSpPr>
        <p:spPr>
          <a:xfrm>
            <a:off x="4800600" y="2606040"/>
            <a:ext cx="164592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Rudraprayag and Chamoli districts (Kedarnath, Badrinath, Hemkund)</a:t>
            </a:r>
            <a:endParaRPr lang="en-US" sz="1300" dirty="0"/>
          </a:p>
        </p:txBody>
      </p:sp>
      <p:sp>
        <p:nvSpPr>
          <p:cNvPr id="19" name="milestone 4"/>
          <p:cNvSpPr/>
          <p:nvPr/>
        </p:nvSpPr>
        <p:spPr>
          <a:xfrm>
            <a:off x="6995160" y="1527048"/>
            <a:ext cx="329184" cy="329184"/>
          </a:xfrm>
          <a:prstGeom prst="ellipse">
            <a:avLst/>
          </a:prstGeom>
          <a:solidFill>
            <a:schemeClr val="accent2"/>
          </a:solidFill>
          <a:ln w="25400">
            <a:solidFill>
              <a:schemeClr val="bg1"/>
            </a:solidFill>
            <a:prstDash val="solid"/>
          </a:ln>
        </p:spPr>
      </p:sp>
      <p:sp>
        <p:nvSpPr>
          <p:cNvPr id="20" name="Text 18"/>
          <p:cNvSpPr txBox="1"/>
          <p:nvPr/>
        </p:nvSpPr>
        <p:spPr>
          <a:xfrm>
            <a:off x="6766560" y="1143000"/>
            <a:ext cx="192024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2027 – 28</a:t>
            </a:r>
            <a:endParaRPr lang="en-US" sz="1200" dirty="0"/>
          </a:p>
        </p:txBody>
      </p:sp>
      <p:sp>
        <p:nvSpPr>
          <p:cNvPr id="21" name="roadmap card 4"/>
          <p:cNvSpPr/>
          <p:nvPr/>
        </p:nvSpPr>
        <p:spPr>
          <a:xfrm>
            <a:off x="6766560" y="2057400"/>
            <a:ext cx="1920240" cy="2331720"/>
          </a:xfrm>
          <a:prstGeom prst="roundRect">
            <a:avLst>
              <a:gd name="adj" fmla="val 3810"/>
            </a:avLst>
          </a:prstGeom>
          <a:solidFill>
            <a:schemeClr val="bg1"/>
          </a:solidFill>
          <a:ln w="12700">
            <a:solidFill>
              <a:schemeClr val="bg1"/>
            </a:solidFill>
            <a:prstDash val="solid"/>
          </a:ln>
        </p:spPr>
      </p:sp>
      <p:sp>
        <p:nvSpPr>
          <p:cNvPr id="22" name="Text 20"/>
          <p:cNvSpPr txBox="1"/>
          <p:nvPr/>
        </p:nvSpPr>
        <p:spPr>
          <a:xfrm>
            <a:off x="6903720" y="2194560"/>
            <a:ext cx="164592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Scale</a:t>
            </a:r>
            <a:endParaRPr lang="en-US" sz="1500" dirty="0"/>
          </a:p>
        </p:txBody>
      </p:sp>
      <p:sp>
        <p:nvSpPr>
          <p:cNvPr id="23" name="Text 21"/>
          <p:cNvSpPr txBox="1"/>
          <p:nvPr/>
        </p:nvSpPr>
        <p:spPr>
          <a:xfrm>
            <a:off x="6903720" y="2606040"/>
            <a:ext cx="164592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All 13 districts, Kanwar Yatra, other Himalayan states</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Help us pilot it in the 2027 yatra</a:t>
            </a:r>
            <a:endParaRPr lang="en-US" sz="4000" dirty="0"/>
          </a:p>
        </p:txBody>
      </p:sp>
      <p:sp>
        <p:nvSpPr>
          <p:cNvPr id="3"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algn="l" indent="0" marL="0">
              <a:buNone/>
            </a:pPr>
            <a:r>
              <a:rPr lang="en-US" sz="1800" dirty="0">
                <a:solidFill>
                  <a:srgbClr val="DCE9ED"/>
                </a:solidFill>
                <a:latin typeface="Calibri" pitchFamily="34" charset="0"/>
                <a:ea typeface="Calibri" pitchFamily="34" charset="-122"/>
                <a:cs typeface="Calibri" pitchFamily="34" charset="-120"/>
              </a:rPr>
              <a:t>Four things will take YatraSetu from prototype to pilgrims' phones</a:t>
            </a:r>
            <a:endParaRPr lang="en-US" sz="1800" dirty="0"/>
          </a:p>
        </p:txBody>
      </p:sp>
      <p:sp>
        <p:nvSpPr>
          <p:cNvPr id="4" name="ask 1 circle"/>
          <p:cNvSpPr/>
          <p:nvPr/>
        </p:nvSpPr>
        <p:spPr>
          <a:xfrm>
            <a:off x="548640" y="3520440"/>
            <a:ext cx="457200" cy="457200"/>
          </a:xfrm>
          <a:prstGeom prst="ellipse">
            <a:avLst/>
          </a:prstGeom>
          <a:solidFill>
            <a:schemeClr val="accent2"/>
          </a:solidFill>
          <a:ln w="12700">
            <a:solidFill>
              <a:schemeClr val="accent2"/>
            </a:solidFill>
            <a:prstDash val="solid"/>
          </a:ln>
        </p:spPr>
      </p:sp>
      <p:pic>
        <p:nvPicPr>
          <p:cNvPr id="5" name="ask 1 glyph" descr="ask 1">    </p:cNvPr>
          <p:cNvPicPr>
            <a:picLocks noChangeAspect="1"/>
          </p:cNvPicPr>
          <p:nvPr/>
        </p:nvPicPr>
        <p:blipFill>
          <a:blip r:embed="rId1"/>
          <a:stretch>
            <a:fillRect/>
          </a:stretch>
        </p:blipFill>
        <p:spPr>
          <a:xfrm>
            <a:off x="676656" y="3648456"/>
            <a:ext cx="201168" cy="201168"/>
          </a:xfrm>
          <a:prstGeom prst="rect">
            <a:avLst/>
          </a:prstGeom>
        </p:spPr>
      </p:pic>
      <p:sp>
        <p:nvSpPr>
          <p:cNvPr id="6" name="Text 3"/>
          <p:cNvSpPr txBox="1"/>
          <p:nvPr/>
        </p:nvSpPr>
        <p:spPr>
          <a:xfrm>
            <a:off x="1097280" y="3493008"/>
            <a:ext cx="1417320" cy="27432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Data-sharing MoU</a:t>
            </a:r>
            <a:endParaRPr lang="en-US" sz="1300" dirty="0"/>
          </a:p>
        </p:txBody>
      </p:sp>
      <p:sp>
        <p:nvSpPr>
          <p:cNvPr id="7" name="Text 4"/>
          <p:cNvSpPr txBox="1"/>
          <p:nvPr/>
        </p:nvSpPr>
        <p:spPr>
          <a:xfrm>
            <a:off x="1097280" y="3767328"/>
            <a:ext cx="1417320" cy="502920"/>
          </a:xfrm>
          <a:prstGeom prst="rect">
            <a:avLst/>
          </a:prstGeom>
          <a:noFill/>
          <a:ln/>
        </p:spPr>
        <p:txBody>
          <a:bodyPr wrap="square" lIns="0" tIns="0" rIns="0" bIns="0" rtlCol="0" anchor="t"/>
          <a:lstStyle/>
          <a:p>
            <a:pPr indent="0" marL="0">
              <a:buNone/>
            </a:pPr>
            <a:r>
              <a:rPr lang="en-US" sz="1150" dirty="0">
                <a:solidFill>
                  <a:srgbClr val="DCE9ED"/>
                </a:solidFill>
                <a:latin typeface="Calibri" pitchFamily="34" charset="0"/>
                <a:ea typeface="Calibri" pitchFamily="34" charset="-122"/>
                <a:cs typeface="Calibri" pitchFamily="34" charset="-120"/>
              </a:rPr>
              <a:t>daily footfall + road status</a:t>
            </a:r>
            <a:endParaRPr lang="en-US" sz="1150" dirty="0"/>
          </a:p>
        </p:txBody>
      </p:sp>
      <p:sp>
        <p:nvSpPr>
          <p:cNvPr id="8" name="ask 2 circle"/>
          <p:cNvSpPr/>
          <p:nvPr/>
        </p:nvSpPr>
        <p:spPr>
          <a:xfrm>
            <a:off x="2560320" y="3520440"/>
            <a:ext cx="457200" cy="457200"/>
          </a:xfrm>
          <a:prstGeom prst="ellipse">
            <a:avLst/>
          </a:prstGeom>
          <a:solidFill>
            <a:schemeClr val="accent2"/>
          </a:solidFill>
          <a:ln w="12700">
            <a:solidFill>
              <a:schemeClr val="accent2"/>
            </a:solidFill>
            <a:prstDash val="solid"/>
          </a:ln>
        </p:spPr>
      </p:sp>
      <p:pic>
        <p:nvPicPr>
          <p:cNvPr id="9" name="ask 2 glyph" descr="ask 2">    </p:cNvPr>
          <p:cNvPicPr>
            <a:picLocks noChangeAspect="1"/>
          </p:cNvPicPr>
          <p:nvPr/>
        </p:nvPicPr>
        <p:blipFill>
          <a:blip r:embed="rId2"/>
          <a:stretch>
            <a:fillRect/>
          </a:stretch>
        </p:blipFill>
        <p:spPr>
          <a:xfrm>
            <a:off x="2688336" y="3648456"/>
            <a:ext cx="201168" cy="201168"/>
          </a:xfrm>
          <a:prstGeom prst="rect">
            <a:avLst/>
          </a:prstGeom>
        </p:spPr>
      </p:pic>
      <p:sp>
        <p:nvSpPr>
          <p:cNvPr id="10" name="Text 6"/>
          <p:cNvSpPr txBox="1"/>
          <p:nvPr/>
        </p:nvSpPr>
        <p:spPr>
          <a:xfrm>
            <a:off x="3108960" y="3493008"/>
            <a:ext cx="1417320" cy="27432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Two pilot districts</a:t>
            </a:r>
            <a:endParaRPr lang="en-US" sz="1300" dirty="0"/>
          </a:p>
        </p:txBody>
      </p:sp>
      <p:sp>
        <p:nvSpPr>
          <p:cNvPr id="11" name="Text 7"/>
          <p:cNvSpPr txBox="1"/>
          <p:nvPr/>
        </p:nvSpPr>
        <p:spPr>
          <a:xfrm>
            <a:off x="3108960" y="3767328"/>
            <a:ext cx="1417320" cy="502920"/>
          </a:xfrm>
          <a:prstGeom prst="rect">
            <a:avLst/>
          </a:prstGeom>
          <a:noFill/>
          <a:ln/>
        </p:spPr>
        <p:txBody>
          <a:bodyPr wrap="square" lIns="0" tIns="0" rIns="0" bIns="0" rtlCol="0" anchor="t"/>
          <a:lstStyle/>
          <a:p>
            <a:pPr indent="0" marL="0">
              <a:buNone/>
            </a:pPr>
            <a:r>
              <a:rPr lang="en-US" sz="1150" dirty="0">
                <a:solidFill>
                  <a:srgbClr val="DCE9ED"/>
                </a:solidFill>
                <a:latin typeface="Calibri" pitchFamily="34" charset="0"/>
                <a:ea typeface="Calibri" pitchFamily="34" charset="-122"/>
                <a:cs typeface="Calibri" pitchFamily="34" charset="-120"/>
              </a:rPr>
              <a:t>Rudraprayag and Chamoli</a:t>
            </a:r>
            <a:endParaRPr lang="en-US" sz="1150" dirty="0"/>
          </a:p>
        </p:txBody>
      </p:sp>
      <p:sp>
        <p:nvSpPr>
          <p:cNvPr id="12" name="ask 3 circle"/>
          <p:cNvSpPr/>
          <p:nvPr/>
        </p:nvSpPr>
        <p:spPr>
          <a:xfrm>
            <a:off x="4572000" y="3520440"/>
            <a:ext cx="457200" cy="457200"/>
          </a:xfrm>
          <a:prstGeom prst="ellipse">
            <a:avLst/>
          </a:prstGeom>
          <a:solidFill>
            <a:schemeClr val="accent2"/>
          </a:solidFill>
          <a:ln w="12700">
            <a:solidFill>
              <a:schemeClr val="accent2"/>
            </a:solidFill>
            <a:prstDash val="solid"/>
          </a:ln>
        </p:spPr>
      </p:sp>
      <p:pic>
        <p:nvPicPr>
          <p:cNvPr id="13" name="ask 3 glyph" descr="ask 3">    </p:cNvPr>
          <p:cNvPicPr>
            <a:picLocks noChangeAspect="1"/>
          </p:cNvPicPr>
          <p:nvPr/>
        </p:nvPicPr>
        <p:blipFill>
          <a:blip r:embed="rId3"/>
          <a:stretch>
            <a:fillRect/>
          </a:stretch>
        </p:blipFill>
        <p:spPr>
          <a:xfrm>
            <a:off x="4700016" y="3648456"/>
            <a:ext cx="201168" cy="201168"/>
          </a:xfrm>
          <a:prstGeom prst="rect">
            <a:avLst/>
          </a:prstGeom>
        </p:spPr>
      </p:pic>
      <p:sp>
        <p:nvSpPr>
          <p:cNvPr id="14" name="Text 9"/>
          <p:cNvSpPr txBox="1"/>
          <p:nvPr/>
        </p:nvSpPr>
        <p:spPr>
          <a:xfrm>
            <a:off x="5120640" y="3493008"/>
            <a:ext cx="1417320" cy="27432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Platform access</a:t>
            </a:r>
            <a:endParaRPr lang="en-US" sz="1300" dirty="0"/>
          </a:p>
        </p:txBody>
      </p:sp>
      <p:sp>
        <p:nvSpPr>
          <p:cNvPr id="15" name="Text 10"/>
          <p:cNvSpPr txBox="1"/>
          <p:nvPr/>
        </p:nvSpPr>
        <p:spPr>
          <a:xfrm>
            <a:off x="5120640" y="3767328"/>
            <a:ext cx="1417320" cy="502920"/>
          </a:xfrm>
          <a:prstGeom prst="rect">
            <a:avLst/>
          </a:prstGeom>
          <a:noFill/>
          <a:ln/>
        </p:spPr>
        <p:txBody>
          <a:bodyPr wrap="square" lIns="0" tIns="0" rIns="0" bIns="0" rtlCol="0" anchor="t"/>
          <a:lstStyle/>
          <a:p>
            <a:pPr indent="0" marL="0">
              <a:buNone/>
            </a:pPr>
            <a:r>
              <a:rPr lang="en-US" sz="1150" dirty="0">
                <a:solidFill>
                  <a:srgbClr val="DCE9ED"/>
                </a:solidFill>
                <a:latin typeface="Calibri" pitchFamily="34" charset="0"/>
                <a:ea typeface="Calibri" pitchFamily="34" charset="-122"/>
                <a:cs typeface="Calibri" pitchFamily="34" charset="-120"/>
              </a:rPr>
              <a:t>WhatsApp Business, Bhashini, SMS</a:t>
            </a:r>
            <a:endParaRPr lang="en-US" sz="1150" dirty="0"/>
          </a:p>
        </p:txBody>
      </p:sp>
      <p:sp>
        <p:nvSpPr>
          <p:cNvPr id="16" name="ask 4 circle"/>
          <p:cNvSpPr/>
          <p:nvPr/>
        </p:nvSpPr>
        <p:spPr>
          <a:xfrm>
            <a:off x="6583680" y="3520440"/>
            <a:ext cx="457200" cy="457200"/>
          </a:xfrm>
          <a:prstGeom prst="ellipse">
            <a:avLst/>
          </a:prstGeom>
          <a:solidFill>
            <a:schemeClr val="accent2"/>
          </a:solidFill>
          <a:ln w="12700">
            <a:solidFill>
              <a:schemeClr val="accent2"/>
            </a:solidFill>
            <a:prstDash val="solid"/>
          </a:ln>
        </p:spPr>
      </p:sp>
      <p:pic>
        <p:nvPicPr>
          <p:cNvPr id="17" name="ask 4 glyph" descr="ask 4">    </p:cNvPr>
          <p:cNvPicPr>
            <a:picLocks noChangeAspect="1"/>
          </p:cNvPicPr>
          <p:nvPr/>
        </p:nvPicPr>
        <p:blipFill>
          <a:blip r:embed="rId4"/>
          <a:stretch>
            <a:fillRect/>
          </a:stretch>
        </p:blipFill>
        <p:spPr>
          <a:xfrm>
            <a:off x="6711696" y="3648456"/>
            <a:ext cx="201168" cy="201168"/>
          </a:xfrm>
          <a:prstGeom prst="rect">
            <a:avLst/>
          </a:prstGeom>
        </p:spPr>
      </p:pic>
      <p:sp>
        <p:nvSpPr>
          <p:cNvPr id="18" name="Text 12"/>
          <p:cNvSpPr txBox="1"/>
          <p:nvPr/>
        </p:nvSpPr>
        <p:spPr>
          <a:xfrm>
            <a:off x="7132320" y="3493008"/>
            <a:ext cx="1417320" cy="27432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₹25 lakh budget</a:t>
            </a:r>
            <a:endParaRPr lang="en-US" sz="1300" dirty="0"/>
          </a:p>
        </p:txBody>
      </p:sp>
      <p:sp>
        <p:nvSpPr>
          <p:cNvPr id="19" name="Text 13"/>
          <p:cNvSpPr txBox="1"/>
          <p:nvPr/>
        </p:nvSpPr>
        <p:spPr>
          <a:xfrm>
            <a:off x="7132320" y="3767328"/>
            <a:ext cx="1417320" cy="502920"/>
          </a:xfrm>
          <a:prstGeom prst="rect">
            <a:avLst/>
          </a:prstGeom>
          <a:noFill/>
          <a:ln/>
        </p:spPr>
        <p:txBody>
          <a:bodyPr wrap="square" lIns="0" tIns="0" rIns="0" bIns="0" rtlCol="0" anchor="t"/>
          <a:lstStyle/>
          <a:p>
            <a:pPr indent="0" marL="0">
              <a:buNone/>
            </a:pPr>
            <a:r>
              <a:rPr lang="en-US" sz="1150" dirty="0">
                <a:solidFill>
                  <a:srgbClr val="DCE9ED"/>
                </a:solidFill>
                <a:latin typeface="Calibri" pitchFamily="34" charset="0"/>
                <a:ea typeface="Calibri" pitchFamily="34" charset="-122"/>
                <a:cs typeface="Calibri" pitchFamily="34" charset="-120"/>
              </a:rPr>
              <a:t>6-month pilot build</a:t>
            </a:r>
            <a:endParaRPr lang="en-US" sz="1150" dirty="0"/>
          </a:p>
        </p:txBody>
      </p:sp>
      <p:sp>
        <p:nvSpPr>
          <p:cNvPr id="20" name="Text 14"/>
          <p:cNvSpPr txBox="1"/>
          <p:nvPr/>
        </p:nvSpPr>
        <p:spPr>
          <a:xfrm>
            <a:off x="548640" y="4526280"/>
            <a:ext cx="8046720" cy="274320"/>
          </a:xfrm>
          <a:prstGeom prst="rect">
            <a:avLst/>
          </a:prstGeom>
          <a:noFill/>
          <a:ln/>
        </p:spPr>
        <p:txBody>
          <a:bodyPr wrap="square" lIns="0" tIns="0" rIns="0" bIns="0" rtlCol="0" anchor="t"/>
          <a:lstStyle/>
          <a:p>
            <a:pPr indent="0" marL="0">
              <a:buNone/>
            </a:pPr>
            <a:r>
              <a:rPr lang="en-US" sz="1200" dirty="0">
                <a:solidFill>
                  <a:srgbClr val="DCE9ED"/>
                </a:solidFill>
                <a:latin typeface="Calibri" pitchFamily="34" charset="0"/>
                <a:ea typeface="Calibri" pitchFamily="34" charset="-122"/>
                <a:cs typeface="Calibri" pitchFamily="34" charset="-120"/>
              </a:rPr>
              <a:t>Ayush Singh  ·  B.Tech CSE (AI/ML), Roorkee Institute of Technology</a:t>
            </a:r>
            <a:endParaRPr lang="en-US" sz="1200" dirty="0"/>
          </a:p>
        </p:txBody>
      </p:sp>
    </p:spTree>
  </p:cSld>
  <p:clrMapOvr>
    <a:masterClrMapping/>
  </p:clrMapOvr>
</p:sld>
</file>

<file path=ppt/theme/theme1.xml><?xml version="1.0" encoding="utf-8"?>
<a:theme xmlns:a="http://schemas.openxmlformats.org/drawingml/2006/main" name="YatraSetu Himalaya">
  <a:themeElements>
    <a:clrScheme name="YatraSetu Himalaya">
      <a:dk1>
        <a:srgbClr val="1B2A33"/>
      </a:dk1>
      <a:lt1>
        <a:srgbClr val="FFFFFF"/>
      </a:lt1>
      <a:dk2>
        <a:srgbClr val="1F4E5F"/>
      </a:dk2>
      <a:lt2>
        <a:srgbClr val="EEF4F5"/>
      </a:lt2>
      <a:accent1>
        <a:srgbClr val="1F4E5F"/>
      </a:accent1>
      <a:accent2>
        <a:srgbClr val="D9731E"/>
      </a:accent2>
      <a:accent3>
        <a:srgbClr val="2E8B57"/>
      </a:accent3>
      <a:accent4>
        <a:srgbClr val="C0392B"/>
      </a:accent4>
      <a:accent5>
        <a:srgbClr val="6B7780"/>
      </a:accent5>
      <a:accent6>
        <a:srgbClr val="9DB7C0"/>
      </a:accent6>
      <a:hlink>
        <a:srgbClr val="1A5FA8"/>
      </a:hlink>
      <a:folHlink>
        <a:srgbClr val="6B7780"/>
      </a:folHlink>
    </a:clrScheme>
    <a:fontScheme name="YatraSetu Himala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YatraSetu AI - Product Pitch</dc:title>
  <dc:subject>AI-powered multilingual safe-travel and crowd advisory assistant for Uttarakhand</dc:subject>
  <dc:creator>Ayush Singh</dc:creator>
  <cp:lastModifiedBy>Ayush Singh</cp:lastModifiedBy>
  <cp:revision>1</cp:revision>
  <dcterms:created xsi:type="dcterms:W3CDTF">2026-10-23T01:17:08Z</dcterms:created>
  <dcterms:modified xsi:type="dcterms:W3CDTF">2026-10-23T01:17:08Z</dcterms:modified>
</cp:coreProperties>
</file>